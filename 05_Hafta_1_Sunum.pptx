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7E82F46-8A96-4483-9626-739EE3919F1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0" y="0"/>
            <a:ext cx="0" cy="0"/>
          </a:xfrm>
          <a:prstGeom prst="rect">
            <a:avLst/>
          </a:prstGeom>
          <a:ln w="0">
            <a:noFill/>
          </a:ln>
        </p:spPr>
      </p:sp>
      <p:sp>
        <p:nvSpPr>
          <p:cNvPr id="25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Bu hafta hiçbir özel robot launchı veya motion_demo çalıştırılmaz. demo_nodes_py ve TurtleBot3 paketleri önceden kurulu olmalıdır.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https://docs.ros.org/en/jazzy/Concepts/Basic/About-Nodes.html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https://emanual.robotis.com/docs/en/platform/turtlebot3/simulation/</a:t>
            </a:r>
            <a:endParaRPr b="0" lang="en-US" sz="2000" spc="-1" strike="noStrike">
              <a:solidFill>
                <a:srgbClr val="000000"/>
              </a:solidFill>
              <a:latin typeface="Arial"/>
            </a:endParaRPr>
          </a:p>
        </p:txBody>
      </p:sp>
      <p:sp>
        <p:nvSpPr>
          <p:cNvPr id="254"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0" y="0"/>
            <a:ext cx="0" cy="0"/>
          </a:xfrm>
          <a:prstGeom prst="rect">
            <a:avLst/>
          </a:prstGeom>
          <a:ln w="0">
            <a:noFill/>
          </a:ln>
        </p:spPr>
      </p:sp>
      <p:sp>
        <p:nvSpPr>
          <p:cNvPr id="25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İlk örnek metin, ikinci örnek hız taşır. İkisi de kurulu paketlerden gelir. Kod düzenlemesi yalnız çalışma kopyasında yapılır.</a:t>
            </a:r>
            <a:endParaRPr b="0" lang="en-US" sz="2000" spc="-1" strike="noStrike">
              <a:solidFill>
                <a:srgbClr val="000000"/>
              </a:solidFill>
              <a:latin typeface="Arial"/>
            </a:endParaRPr>
          </a:p>
        </p:txBody>
      </p:sp>
      <p:sp>
        <p:nvSpPr>
          <p:cNvPr id="257"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0" y="0"/>
            <a:ext cx="0" cy="0"/>
          </a:xfrm>
          <a:prstGeom prst="rect">
            <a:avLst/>
          </a:prstGeom>
          <a:ln w="0">
            <a:noFill/>
          </a:ln>
        </p:spPr>
      </p:sp>
      <p:sp>
        <p:nvSpPr>
          <p:cNvPr id="25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Bu zincir ROS 2 Jazzy TurtleBot3 paketinin kurulu Burger bridge ayarına dayanır. Twist arayüzü sonraki slaytlarda yalnız hız alanlarını incelemek içindir.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https://docs.ros.org/en/jazzy/Concepts/Basic/About-Nodes.html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https://docs.ros.org/en/jazzy/p/ros_gz_bridge/</a:t>
            </a:r>
            <a:endParaRPr b="0" lang="en-US" sz="2000" spc="-1" strike="noStrike">
              <a:solidFill>
                <a:srgbClr val="000000"/>
              </a:solidFill>
              <a:latin typeface="Arial"/>
            </a:endParaRPr>
          </a:p>
        </p:txBody>
      </p:sp>
      <p:sp>
        <p:nvSpPr>
          <p:cNvPr id="260"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0" y="0"/>
            <a:ext cx="0" cy="0"/>
          </a:xfrm>
          <a:prstGeom prst="rect">
            <a:avLst/>
          </a:prstGeom>
          <a:ln w="0">
            <a:noFill/>
          </a:ln>
        </p:spPr>
      </p:sp>
      <p:sp>
        <p:nvSpPr>
          <p:cNvPr id="26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Node süreçle özdeş değildir. Topic kanal adıdır. İlk örnekte /chatter String, robot örneğinde /cmd_vel TwistStamped taşır.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https://docs.ros.org/en/jazzy/Concepts/Basic/About-Nodes.html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p:txBody>
      </p:sp>
      <p:sp>
        <p:nvSpPr>
          <p:cNvPr id="263"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0" y="0"/>
            <a:ext cx="0" cy="0"/>
          </a:xfrm>
          <a:prstGeom prst="rect">
            <a:avLst/>
          </a:prstGeom>
          <a:ln w="0">
            <a:noFill/>
          </a:ln>
        </p:spPr>
      </p:sp>
      <p:sp>
        <p:nvSpPr>
          <p:cNvPr id="26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Workspace/package farkını açıklayın. İlk haftanın örnekleri önceden kurulu paketlerdir; özel ders paketini build veya source etmeyin.</a:t>
            </a:r>
            <a:endParaRPr b="0" lang="en-US" sz="2000" spc="-1" strike="noStrike">
              <a:solidFill>
                <a:srgbClr val="000000"/>
              </a:solidFill>
              <a:latin typeface="Arial"/>
            </a:endParaRPr>
          </a:p>
        </p:txBody>
      </p:sp>
      <p:sp>
        <p:nvSpPr>
          <p:cNvPr id="266"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0" y="0"/>
            <a:ext cx="0" cy="0"/>
          </a:xfrm>
          <a:prstGeom prst="rect">
            <a:avLst/>
          </a:prstGeom>
          <a:ln w="0">
            <a:noFill/>
          </a:ln>
        </p:spPr>
      </p:sp>
      <p:sp>
        <p:nvSpPr>
          <p:cNvPr id="26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Her komutun yanındaki kısa açıklamayı okuyun. Bu slaytta ek ROS CLI komutu göstermeyin. topic echo sürekli dinler; Ctrl+C ile kapatılır.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https://docs.ros.org/en/jazzy/Tutorials/Beginner-CLI-Tools.html</a:t>
            </a:r>
            <a:endParaRPr b="0" lang="en-US" sz="2000" spc="-1" strike="noStrike">
              <a:solidFill>
                <a:srgbClr val="000000"/>
              </a:solidFill>
              <a:latin typeface="Arial"/>
            </a:endParaRPr>
          </a:p>
        </p:txBody>
      </p:sp>
      <p:sp>
        <p:nvSpPr>
          <p:cNvPr id="269"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0" y="0"/>
            <a:ext cx="0" cy="0"/>
          </a:xfrm>
          <a:prstGeom prst="rect">
            <a:avLst/>
          </a:prstGeom>
          <a:ln w="0">
            <a:noFill/>
          </a:ln>
        </p:spPr>
      </p:sp>
      <p:sp>
        <p:nvSpPr>
          <p:cNvPr id="27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Yaklaşık 3 dakika. Yayıncı ve abone ayrı ROS ürünleri değil, node içinde oluşturduğumuz iletişim rolleridir. Aynı node /scan abonesi ve /cmd_vel yayıncısı olabilir. Callback’i “mesaj geldiğinde çalıştırılacak fonksiyon” olarak açıklayın. Henüz kod veya terminal açmayın.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Ders planı: yaklaşık 95 dk, geçiş ve soru payı dahil. İlk 6 slayt, iletişim teorisi, kurulu demo_nodes_py, kod kopyasında topic adı ve Burger teleop. Proje kodu: 09_ROS2_Jazzy_Ders_Projesi.zip, sürüm 1.4.0. Kurulu paket / özel ders kodu ayrımı PREPARATION.md dosyasında.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p:txBody>
      </p:sp>
      <p:sp>
        <p:nvSpPr>
          <p:cNvPr id="272"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360" y="-360"/>
            <a:ext cx="720" cy="720"/>
          </a:xfrm>
          <a:prstGeom prst="rect">
            <a:avLst/>
          </a:prstGeom>
          <a:ln w="0">
            <a:noFill/>
          </a:ln>
        </p:spPr>
      </p:sp>
      <p:sp>
        <p:nvSpPr>
          <p:cNvPr id="27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Gerçek yol /opt/ros/jazzy/lib/python3.12/site-packages/demo_nodes_py/. topics altındaki iki dosyayı kullanıcı yazılabilir geçici dizine kopyalayın. Önce listener kopyasının chatter adını ders_chatter yapıp python3 ile çalıştırın: orijinal talker hâlâ chatter yayınlar, mesaj gelmez. Sonra orijinal talkerı kapatıp talker kopyasını da ders_chatter yapın ve python3 ile çalıştırın. Terminal remap göstermeyin. Tam komutlar rehberde.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https://github.com/ros2/demos/tree/jazzy/demo_nodes_py</a:t>
            </a:r>
            <a:endParaRPr b="0" lang="en-US" sz="2000" spc="-1" strike="noStrike">
              <a:solidFill>
                <a:srgbClr val="000000"/>
              </a:solidFill>
              <a:latin typeface="Arial"/>
            </a:endParaRPr>
          </a:p>
        </p:txBody>
      </p:sp>
      <p:sp>
        <p:nvSpPr>
          <p:cNvPr id="275"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0" y="0"/>
            <a:ext cx="0" cy="0"/>
          </a:xfrm>
          <a:prstGeom prst="rect">
            <a:avLst/>
          </a:prstGeom>
          <a:ln w="0">
            <a:noFill/>
          </a:ln>
        </p:spPr>
      </p:sp>
      <p:sp>
        <p:nvSpPr>
          <p:cNvPr id="27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Yaklaşık 2 dakika. Topic’i sürekli veri için sık kullanırız ama tek mesaj da yayımlanabilir. Bu örnekte aynı makine, aynı ROS domain ve varsayılan uyumlu QoS vardır. QoS ayrıntısını bugün açmayın. “10” saniye veya frekans değil, geçmiş kuyruğunun derinliğidir. Mesajın gelmesi, robotun istenen işi tamamladığının kanıtı değildir.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Ders planı: yaklaşık 95 dk, geçiş ve soru payı dahil. İlk 6 slayt, iletişim teorisi, kurulu demo_nodes_py, kod kopyasında topic adı ve Burger teleop. Proje kodu: 09_ROS2_Jazzy_Ders_Projesi.zip, sürüm 1.4.0. Kurulu paket / özel ders kodu ayrımı PREPARATION.md dosyasında.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p:txBody>
      </p:sp>
      <p:sp>
        <p:nvSpPr>
          <p:cNvPr id="278"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0" y="0"/>
            <a:ext cx="0" cy="0"/>
          </a:xfrm>
          <a:prstGeom prst="rect">
            <a:avLst/>
          </a:prstGeom>
          <a:ln w="0">
            <a:noFill/>
          </a:ln>
        </p:spPr>
      </p:sp>
      <p:sp>
        <p:nvSpPr>
          <p:cNvPr id="28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Yaklaşık 3 dakika. Bu hafta yalnız teori. /obstacle_guard/enable örneğinin uygulaması ikinci haftada. İstemci ve sunucu rollerini anlatın. Servis çağrısı asenkron olabilir; service demek program her zaman bloke olur demek değildir. Standart service arayüzü action gibi ilerleme ve görev iptali sözleşmesi sunmaz. Açma isteğinin başarılı olması navigasyon görevinin tamamlandığı anlamına gelmez.</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Ders planı: yaklaşık 95 dk, geçiş ve soru payı dahil. İlk 6 slayt, iletişim teorisi, kurulu demo_nodes_py, kod kopyasında topic adı ve Burger teleop. Proje kodu: 09_ROS2_Jazzy_Ders_Projesi.zip, sürüm 1.4.0. Kurulu paket / özel ders kodu ayrımı PREPARATION.md dosyasında.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https://docs.ros.org/en/jazzy/Concepts/Basic/About-Services.html</a:t>
            </a:r>
            <a:endParaRPr b="0" lang="en-US" sz="2000" spc="-1" strike="noStrike">
              <a:solidFill>
                <a:srgbClr val="000000"/>
              </a:solidFill>
              <a:latin typeface="Arial"/>
            </a:endParaRPr>
          </a:p>
        </p:txBody>
      </p:sp>
      <p:sp>
        <p:nvSpPr>
          <p:cNvPr id="281"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0" y="0"/>
            <a:ext cx="0" cy="0"/>
          </a:xfrm>
          <a:prstGeom prst="rect">
            <a:avLst/>
          </a:prstGeom>
          <a:ln w="0">
            <a:noFill/>
          </a:ln>
        </p:spPr>
      </p:sp>
      <p:sp>
        <p:nvSpPr>
          <p:cNvPr id="28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Yaklaşık 3 dakika. Bu hafta kod ve action komutu yok. İptal bir istektir, anında ve koşulsuz duruş garantisi değildir. Hedefin kabulü ile hedefe varmayı ayırın. Service kısa işlemin yanıtını, action uzun görevin yaşamını takip etmek için uygundur. Action iç yapısındaki topic/service ayrıntısını dördüncü haftaya da taşımak zorunda değiliz.</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Ders planı: yaklaşık 95 dk, geçiş ve soru payı dahil. İlk 6 slayt, iletişim teorisi, kurulu demo_nodes_py, kod kopyasında topic adı ve Burger teleop. Proje kodu: 09_ROS2_Jazzy_Ders_Projesi.zip, sürüm 1.4.0. Kurulu paket / özel ders kodu ayrımı PREPARATION.md dosyasında.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https://docs.ros.org/en/jazzy/Concepts/Basic/About-Actions.html</a:t>
            </a:r>
            <a:endParaRPr b="0" lang="en-US" sz="2000" spc="-1" strike="noStrike">
              <a:solidFill>
                <a:srgbClr val="000000"/>
              </a:solidFill>
              <a:latin typeface="Arial"/>
            </a:endParaRPr>
          </a:p>
        </p:txBody>
      </p:sp>
      <p:sp>
        <p:nvSpPr>
          <p:cNvPr id="284"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0" y="0"/>
            <a:ext cx="0" cy="0"/>
          </a:xfrm>
          <a:prstGeom prst="rect">
            <a:avLst/>
          </a:prstGeom>
          <a:ln w="0">
            <a:noFill/>
          </a:ln>
        </p:spPr>
      </p:sp>
      <p:sp>
        <p:nvSpPr>
          <p:cNvPr id="28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Yaklaşık 2 dakika. Sınıfa üç durumu sorun, cevabı gerekçesiyle alın. Sürenin tek seçim ölçütü olmadığını, beklenen arayüzün önemli olduğunu söyleyin. Ardından sunumu bırakıp eğitmen bilgisayarındaki hazır örneği açın. Service ve action uygulaması bu dersin parçası değildir.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Ders planı: yaklaşık 95 dk, geçiş ve soru payı dahil. İlk 6 slayt, iletişim teorisi, kurulu demo_nodes_py, kod kopyasında topic adı ve Burger teleop. Proje kodu: 09_ROS2_Jazzy_Ders_Projesi.zip, sürüm 1.4.0. Kurulu paket / özel ders kodu ayrımı PREPARATION.md dosyasında.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https://docs.ros.org/en/jazzy/Concepts/Basic/About-Services.html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https://docs.ros.org/en/jazzy/Concepts/Basic/About-Actions.html</a:t>
            </a:r>
            <a:endParaRPr b="0" lang="en-US" sz="2000" spc="-1" strike="noStrike">
              <a:solidFill>
                <a:srgbClr val="000000"/>
              </a:solidFill>
              <a:latin typeface="Arial"/>
            </a:endParaRPr>
          </a:p>
        </p:txBody>
      </p:sp>
      <p:sp>
        <p:nvSpPr>
          <p:cNvPr id="287"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0" y="0"/>
            <a:ext cx="0" cy="0"/>
          </a:xfrm>
          <a:prstGeom prst="rect">
            <a:avLst/>
          </a:prstGeom>
          <a:ln w="0">
            <a:noFill/>
          </a:ln>
        </p:spPr>
      </p:sp>
      <p:sp>
        <p:nvSpPr>
          <p:cNvPr id="28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ros2 interface show geometry_msgs/msg/Twist komutu yalnız içteki hız şemasını gösterir. Kurulu turtlebot3_burger_bridge.yaml ve teleop_keyboard.py Jazzy /cmd_vel için TwistStamped kullanır. Öğrenciye Twist çıktısını /cmd_vel türü diye sunmayın.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https://gazebosim.org/docs/harmonic/moving_robot/</a:t>
            </a:r>
            <a:endParaRPr b="0" lang="en-US" sz="2000" spc="-1" strike="noStrike">
              <a:solidFill>
                <a:srgbClr val="000000"/>
              </a:solidFill>
              <a:latin typeface="Arial"/>
            </a:endParaRPr>
          </a:p>
        </p:txBody>
      </p:sp>
      <p:sp>
        <p:nvSpPr>
          <p:cNvPr id="290"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0" y="0"/>
            <a:ext cx="0" cy="0"/>
          </a:xfrm>
          <a:prstGeom prst="rect">
            <a:avLst/>
          </a:prstGeom>
          <a:ln w="0">
            <a:noFill/>
          </a:ln>
        </p:spPr>
      </p:sp>
      <p:sp>
        <p:nvSpPr>
          <p:cNvPr id="29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w bir sabit mesafe komutu değil, hedef hızı 0.01 m/s adımıyla artırır. a/d açısal hız hedefini değiştirir. T3 penceresi odakta olmalı. s ile duruşu Gazebo ve /cmd_vel üstünden yorumlayın.</a:t>
            </a:r>
            <a:endParaRPr b="0" lang="en-US" sz="2000" spc="-1" strike="noStrike">
              <a:solidFill>
                <a:srgbClr val="000000"/>
              </a:solidFill>
              <a:latin typeface="Arial"/>
            </a:endParaRPr>
          </a:p>
        </p:txBody>
      </p:sp>
      <p:sp>
        <p:nvSpPr>
          <p:cNvPr id="293"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0" y="0"/>
            <a:ext cx="0" cy="0"/>
          </a:xfrm>
          <a:prstGeom prst="rect">
            <a:avLst/>
          </a:prstGeom>
          <a:ln w="0">
            <a:noFill/>
          </a:ln>
        </p:spPr>
      </p:sp>
      <p:sp>
        <p:nvSpPr>
          <p:cNvPr id="29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T1 ve T3 için TURTLEBOT3_MODEL=burger ayrı ayarlanmalı. T2 echo --once teleop açıldıktan ve w verildikten sonra çalışırsa nonzero mesaj yakalama olasılığı artar. Beklenmedik hareket için s veya boşluk, sonra Ctrl+C.</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https://emanual.robotis.com/docs/en/platform/turtlebot3/simulation/</a:t>
            </a:r>
            <a:endParaRPr b="0" lang="en-US" sz="2000" spc="-1" strike="noStrike">
              <a:solidFill>
                <a:srgbClr val="000000"/>
              </a:solidFill>
              <a:latin typeface="Arial"/>
            </a:endParaRPr>
          </a:p>
        </p:txBody>
      </p:sp>
      <p:sp>
        <p:nvSpPr>
          <p:cNvPr id="296"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0" y="0"/>
            <a:ext cx="0" cy="0"/>
          </a:xfrm>
          <a:prstGeom prst="rect">
            <a:avLst/>
          </a:prstGeom>
          <a:ln w="0">
            <a:noFill/>
          </a:ln>
        </p:spPr>
      </p:sp>
      <p:sp>
        <p:nvSpPr>
          <p:cNvPr id="29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İlk hafta Burger, ikinci hafta Waffle modelidir; ikisi de kurulu TurtleBot3 ailesindendir. Seçilen altı CLI komutundan başka ROS sorgusu öğretmeyin. Service ve action bu hafta yalnız teoriydi.</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Kaynaklar: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https://docs.ros.org/en/jazzy/Concepts/Basic/About-Nodes.html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https://docs.ros.org/en/jazzy/Concepts/Basic/About-Topics.html</a:t>
            </a:r>
            <a:endParaRPr b="0" lang="en-US" sz="2000" spc="-1" strike="noStrike">
              <a:solidFill>
                <a:srgbClr val="000000"/>
              </a:solidFill>
              <a:latin typeface="Arial"/>
            </a:endParaRPr>
          </a:p>
        </p:txBody>
      </p:sp>
      <p:sp>
        <p:nvSpPr>
          <p:cNvPr id="299"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63a"/>
        </a:solidFill>
      </p:bgPr>
    </p:bg>
    <p:spTree>
      <p:nvGrpSpPr>
        <p:cNvPr id="1" name=""/>
        <p:cNvGrpSpPr/>
        <p:nvPr/>
      </p:nvGrpSpPr>
      <p:grpSpPr>
        <a:xfrm>
          <a:off x="0" y="0"/>
          <a:ext cx="0" cy="0"/>
          <a:chOff x="0" y="0"/>
          <a:chExt cx="0" cy="0"/>
        </a:xfrm>
      </p:grpSpPr>
      <p:sp>
        <p:nvSpPr>
          <p:cNvPr id="10" name="Dikdörtgen 9"/>
          <p:cNvSpPr/>
          <p:nvPr/>
        </p:nvSpPr>
        <p:spPr>
          <a:xfrm>
            <a:off x="0" y="0"/>
            <a:ext cx="171000" cy="68576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1" name="Dikdörtgen 1"/>
          <p:cNvSpPr/>
          <p:nvPr/>
        </p:nvSpPr>
        <p:spPr>
          <a:xfrm>
            <a:off x="781200" y="666720"/>
            <a:ext cx="3809520" cy="28548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ffffff"/>
                </a:solidFill>
                <a:latin typeface="Lato"/>
                <a:ea typeface="Lato"/>
              </a:rPr>
              <a:t>1. HAFTA SUNUMU</a:t>
            </a:r>
            <a:endParaRPr b="0" lang="en-US" sz="980" spc="-1" strike="noStrike">
              <a:solidFill>
                <a:srgbClr val="ffffff"/>
              </a:solidFill>
              <a:latin typeface="Arial"/>
            </a:endParaRPr>
          </a:p>
        </p:txBody>
      </p:sp>
      <p:sp>
        <p:nvSpPr>
          <p:cNvPr id="12" name="Dikdörtgen 2"/>
          <p:cNvSpPr/>
          <p:nvPr/>
        </p:nvSpPr>
        <p:spPr>
          <a:xfrm>
            <a:off x="781200" y="1257480"/>
            <a:ext cx="7810200" cy="17143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4050" spc="-1" strike="noStrike">
                <a:solidFill>
                  <a:srgbClr val="ffffff"/>
                </a:solidFill>
                <a:latin typeface="Lato"/>
                <a:ea typeface="Lato"/>
              </a:rPr>
              <a:t>ROS 2 temelleri ve ilk hareket</a:t>
            </a:r>
            <a:endParaRPr b="0" lang="en-US" sz="4050" spc="-1" strike="noStrike">
              <a:solidFill>
                <a:srgbClr val="ffffff"/>
              </a:solidFill>
              <a:latin typeface="Arial"/>
            </a:endParaRPr>
          </a:p>
        </p:txBody>
      </p:sp>
      <p:sp>
        <p:nvSpPr>
          <p:cNvPr id="13" name="Dikdörtgen 3"/>
          <p:cNvSpPr/>
          <p:nvPr/>
        </p:nvSpPr>
        <p:spPr>
          <a:xfrm>
            <a:off x="800280" y="3143160"/>
            <a:ext cx="7333920" cy="742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pc="-1" strike="noStrike">
                <a:solidFill>
                  <a:srgbClr val="c7d4dd"/>
                </a:solidFill>
                <a:latin typeface="Lato"/>
                <a:ea typeface="Lato"/>
              </a:rPr>
              <a:t>Kurulu talker–listener örneğini inceleyecek, sonra TurtleBot3 Burger’ı klavyeyle süreceğiz.</a:t>
            </a:r>
            <a:endParaRPr b="0" lang="en-US" sz="1800" spc="-1" strike="noStrike">
              <a:solidFill>
                <a:srgbClr val="ffffff"/>
              </a:solidFill>
              <a:latin typeface="Arial"/>
            </a:endParaRPr>
          </a:p>
        </p:txBody>
      </p:sp>
      <p:sp>
        <p:nvSpPr>
          <p:cNvPr id="14" name="Düz Bağlayıcı 4"/>
          <p:cNvSpPr/>
          <p:nvPr/>
        </p:nvSpPr>
        <p:spPr>
          <a:xfrm>
            <a:off x="799920" y="4209840"/>
            <a:ext cx="2381400" cy="360"/>
          </a:xfrm>
          <a:prstGeom prst="line">
            <a:avLst/>
          </a:prstGeom>
          <a:ln w="38100">
            <a:solidFill>
              <a:srgbClr val="009b8e"/>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5" name="Dikdörtgen 6"/>
          <p:cNvSpPr/>
          <p:nvPr/>
        </p:nvSpPr>
        <p:spPr>
          <a:xfrm>
            <a:off x="800280" y="6019920"/>
            <a:ext cx="781020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130" spc="-1" strike="noStrike">
                <a:solidFill>
                  <a:srgbClr val="afc2cf"/>
                </a:solidFill>
                <a:latin typeface="Lato"/>
                <a:ea typeface="Lato"/>
              </a:rPr>
              <a:t>ROS 2 Jazzy  ·  Gazebo Harmonic  ·  TurtleBot3</a:t>
            </a:r>
            <a:endParaRPr b="0" lang="en-US" sz="1130" spc="-1" strike="noStrike">
              <a:solidFill>
                <a:srgbClr val="ffffff"/>
              </a:solidFill>
              <a:latin typeface="Arial"/>
            </a:endParaRPr>
          </a:p>
        </p:txBody>
      </p:sp>
      <p:sp>
        <p:nvSpPr>
          <p:cNvPr id="16" name="Dikdörtgen 7"/>
          <p:cNvSpPr/>
          <p:nvPr/>
        </p:nvSpPr>
        <p:spPr>
          <a:xfrm>
            <a:off x="9353520" y="1028880"/>
            <a:ext cx="2095200" cy="2666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2750" spc="-1" strike="noStrike">
                <a:solidFill>
                  <a:srgbClr val="009b8e"/>
                </a:solidFill>
                <a:latin typeface="Lato"/>
                <a:ea typeface="Lato"/>
              </a:rPr>
              <a:t>01</a:t>
            </a:r>
            <a:endParaRPr b="0" lang="en-US" sz="12750" spc="-1" strike="noStrike">
              <a:solidFill>
                <a:srgbClr val="ffffff"/>
              </a:solidFill>
              <a:latin typeface="Arial"/>
            </a:endParaRPr>
          </a:p>
        </p:txBody>
      </p:sp>
      <p:sp>
        <p:nvSpPr>
          <p:cNvPr id="17" name="Dikdörtgen: Köşeleri Yuvarlatılmış 8"/>
          <p:cNvSpPr/>
          <p:nvPr/>
        </p:nvSpPr>
        <p:spPr>
          <a:xfrm>
            <a:off x="8001000" y="4915080"/>
            <a:ext cx="3466800" cy="590040"/>
          </a:xfrm>
          <a:prstGeom prst="roundRect">
            <a:avLst>
              <a:gd name="adj" fmla="val 25806"/>
            </a:avLst>
          </a:prstGeom>
          <a:solidFill>
            <a:srgbClr val="173850"/>
          </a:solidFill>
          <a:ln w="9525">
            <a:solidFill>
              <a:srgbClr val="009b8e"/>
            </a:solidFill>
            <a:round/>
          </a:ln>
        </p:spPr>
        <p:style>
          <a:lnRef idx="0"/>
          <a:fillRef idx="0"/>
          <a:effectRef idx="0"/>
          <a:fontRef idx="minor"/>
        </p:style>
        <p:txBody>
          <a:bodyPr lIns="76320" rIns="76320" tIns="57240" bIns="57240" anchor="ctr">
            <a:noAutofit/>
          </a:bodyPr>
          <a:p>
            <a:pPr algn="ctr" defTabSz="914400">
              <a:lnSpc>
                <a:spcPct val="100000"/>
              </a:lnSpc>
            </a:pPr>
            <a:r>
              <a:rPr b="1" lang="en-US" sz="1130" spc="-1" strike="noStrike">
                <a:solidFill>
                  <a:srgbClr val="ffffff"/>
                </a:solidFill>
                <a:latin typeface="Lato"/>
                <a:ea typeface="Lato"/>
              </a:rPr>
              <a:t>TEORİ  →  CANLI DEMO  →  KONTROLLÜ UYGULAMA</a:t>
            </a:r>
            <a:endParaRPr b="0" lang="en-US" sz="113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8" name="Dikdörtgen 20"/>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9"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DERSİN ROTASI</a:t>
            </a:r>
            <a:endParaRPr b="0" lang="en-US" sz="980" spc="-1" strike="noStrike">
              <a:solidFill>
                <a:srgbClr val="000000"/>
              </a:solidFill>
              <a:latin typeface="Arial"/>
            </a:endParaRPr>
          </a:p>
        </p:txBody>
      </p:sp>
      <p:sp>
        <p:nvSpPr>
          <p:cNvPr id="20"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Bugün neyi başaracağız?</a:t>
            </a:r>
            <a:endParaRPr b="0" lang="en-US" sz="2850" spc="-1" strike="noStrike">
              <a:solidFill>
                <a:srgbClr val="000000"/>
              </a:solidFill>
              <a:latin typeface="Arial"/>
            </a:endParaRPr>
          </a:p>
        </p:txBody>
      </p:sp>
      <p:sp>
        <p:nvSpPr>
          <p:cNvPr id="21"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2"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23"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02 / 16</a:t>
            </a:r>
            <a:endParaRPr b="0" lang="en-US" sz="900" spc="-1" strike="noStrike">
              <a:solidFill>
                <a:srgbClr val="000000"/>
              </a:solidFill>
              <a:latin typeface="Arial"/>
            </a:endParaRPr>
          </a:p>
        </p:txBody>
      </p:sp>
      <p:sp>
        <p:nvSpPr>
          <p:cNvPr id="24" name="Dikdörtgen 6"/>
          <p:cNvSpPr/>
          <p:nvPr/>
        </p:nvSpPr>
        <p:spPr>
          <a:xfrm>
            <a:off x="685800" y="1257480"/>
            <a:ext cx="1066752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80" spc="-1" strike="noStrike">
                <a:solidFill>
                  <a:srgbClr val="65798a"/>
                </a:solidFill>
                <a:latin typeface="Lato"/>
                <a:ea typeface="Lato"/>
              </a:rPr>
              <a:t>Ders sonunda katılımcı, çalışan sistemi üç kanıtla açıklayacak.</a:t>
            </a:r>
            <a:endParaRPr b="0" lang="en-US" sz="1580" spc="-1" strike="noStrike">
              <a:solidFill>
                <a:srgbClr val="000000"/>
              </a:solidFill>
              <a:latin typeface="Arial"/>
            </a:endParaRPr>
          </a:p>
        </p:txBody>
      </p:sp>
      <p:sp>
        <p:nvSpPr>
          <p:cNvPr id="25" name="Dikdörtgen 7"/>
          <p:cNvSpPr/>
          <p:nvPr/>
        </p:nvSpPr>
        <p:spPr>
          <a:xfrm>
            <a:off x="685800" y="2076480"/>
            <a:ext cx="344124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550" spc="-1" strike="noStrike">
                <a:solidFill>
                  <a:srgbClr val="009b8e"/>
                </a:solidFill>
                <a:latin typeface="Lato"/>
                <a:ea typeface="Lato"/>
              </a:rPr>
              <a:t>01</a:t>
            </a:r>
            <a:endParaRPr b="0" lang="en-US" sz="2550" spc="-1" strike="noStrike">
              <a:solidFill>
                <a:srgbClr val="000000"/>
              </a:solidFill>
              <a:latin typeface="Arial"/>
            </a:endParaRPr>
          </a:p>
        </p:txBody>
      </p:sp>
      <p:sp>
        <p:nvSpPr>
          <p:cNvPr id="26" name="Düz Bağlayıcı 8"/>
          <p:cNvSpPr/>
          <p:nvPr/>
        </p:nvSpPr>
        <p:spPr>
          <a:xfrm>
            <a:off x="685800" y="2695320"/>
            <a:ext cx="3441600" cy="360"/>
          </a:xfrm>
          <a:prstGeom prst="line">
            <a:avLst/>
          </a:prstGeom>
          <a:ln w="28575">
            <a:solidFill>
              <a:srgbClr val="009b8e"/>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7" name="Dikdörtgen 9"/>
          <p:cNvSpPr/>
          <p:nvPr/>
        </p:nvSpPr>
        <p:spPr>
          <a:xfrm>
            <a:off x="685800" y="2895480"/>
            <a:ext cx="3441240" cy="704520"/>
          </a:xfrm>
          <a:prstGeom prst="rect">
            <a:avLst/>
          </a:prstGeom>
          <a:noFill/>
          <a:ln w="0">
            <a:noFill/>
          </a:ln>
        </p:spPr>
        <p:style>
          <a:lnRef idx="0"/>
          <a:fillRef idx="0"/>
          <a:effectRef idx="0"/>
          <a:fontRef idx="minor"/>
        </p:style>
        <p:txBody>
          <a:bodyPr lIns="0" rIns="38160" tIns="0" bIns="0" anchor="t">
            <a:noAutofit/>
          </a:bodyPr>
          <a:p>
            <a:pPr defTabSz="914400">
              <a:lnSpc>
                <a:spcPct val="100000"/>
              </a:lnSpc>
            </a:pPr>
            <a:r>
              <a:rPr b="1" lang="en-US" sz="1800" spc="-1" strike="noStrike">
                <a:solidFill>
                  <a:srgbClr val="132638"/>
                </a:solidFill>
                <a:latin typeface="Lato"/>
                <a:ea typeface="Lato"/>
              </a:rPr>
              <a:t>İletişimi oku</a:t>
            </a:r>
            <a:endParaRPr b="0" lang="en-US" sz="1800" spc="-1" strike="noStrike">
              <a:solidFill>
                <a:srgbClr val="000000"/>
              </a:solidFill>
              <a:latin typeface="Arial"/>
            </a:endParaRPr>
          </a:p>
        </p:txBody>
      </p:sp>
      <p:sp>
        <p:nvSpPr>
          <p:cNvPr id="28" name="Dikdörtgen 10"/>
          <p:cNvSpPr/>
          <p:nvPr/>
        </p:nvSpPr>
        <p:spPr>
          <a:xfrm>
            <a:off x="685800" y="3753000"/>
            <a:ext cx="3441240" cy="1561680"/>
          </a:xfrm>
          <a:prstGeom prst="rect">
            <a:avLst/>
          </a:prstGeom>
          <a:noFill/>
          <a:ln w="0">
            <a:noFill/>
          </a:ln>
        </p:spPr>
        <p:style>
          <a:lnRef idx="0"/>
          <a:fillRef idx="0"/>
          <a:effectRef idx="0"/>
          <a:fontRef idx="minor"/>
        </p:style>
        <p:txBody>
          <a:bodyPr lIns="0" rIns="57240" tIns="0" bIns="0" anchor="t">
            <a:noAutofit/>
          </a:bodyPr>
          <a:p>
            <a:pPr defTabSz="914400">
              <a:lnSpc>
                <a:spcPct val="100000"/>
              </a:lnSpc>
            </a:pPr>
            <a:r>
              <a:rPr b="0" lang="en-US" sz="1350" spc="-1" strike="noStrike">
                <a:solidFill>
                  <a:srgbClr val="314659"/>
                </a:solidFill>
                <a:latin typeface="Lato"/>
                <a:ea typeface="Lato"/>
              </a:rPr>
              <a:t>/chatter üzerinde yayıncıyı, aboneyi ve mesaj türünü göster.</a:t>
            </a:r>
            <a:endParaRPr b="0" lang="en-US" sz="1350" spc="-1" strike="noStrike">
              <a:solidFill>
                <a:srgbClr val="000000"/>
              </a:solidFill>
              <a:latin typeface="Arial"/>
            </a:endParaRPr>
          </a:p>
        </p:txBody>
      </p:sp>
      <p:sp>
        <p:nvSpPr>
          <p:cNvPr id="29" name="Dikdörtgen 11"/>
          <p:cNvSpPr/>
          <p:nvPr/>
        </p:nvSpPr>
        <p:spPr>
          <a:xfrm>
            <a:off x="4299120" y="2076480"/>
            <a:ext cx="344124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550" spc="-1" strike="noStrike">
                <a:solidFill>
                  <a:srgbClr val="009b8e"/>
                </a:solidFill>
                <a:latin typeface="Lato"/>
                <a:ea typeface="Lato"/>
              </a:rPr>
              <a:t>02</a:t>
            </a:r>
            <a:endParaRPr b="0" lang="en-US" sz="2550" spc="-1" strike="noStrike">
              <a:solidFill>
                <a:srgbClr val="000000"/>
              </a:solidFill>
              <a:latin typeface="Arial"/>
            </a:endParaRPr>
          </a:p>
        </p:txBody>
      </p:sp>
      <p:sp>
        <p:nvSpPr>
          <p:cNvPr id="30" name="Düz Bağlayıcı 12"/>
          <p:cNvSpPr/>
          <p:nvPr/>
        </p:nvSpPr>
        <p:spPr>
          <a:xfrm>
            <a:off x="4298760" y="2695320"/>
            <a:ext cx="3441600" cy="360"/>
          </a:xfrm>
          <a:prstGeom prst="line">
            <a:avLst/>
          </a:prstGeom>
          <a:ln w="2857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31" name="Dikdörtgen 13"/>
          <p:cNvSpPr/>
          <p:nvPr/>
        </p:nvSpPr>
        <p:spPr>
          <a:xfrm>
            <a:off x="4299120" y="2895480"/>
            <a:ext cx="3441240" cy="704520"/>
          </a:xfrm>
          <a:prstGeom prst="rect">
            <a:avLst/>
          </a:prstGeom>
          <a:noFill/>
          <a:ln w="0">
            <a:noFill/>
          </a:ln>
        </p:spPr>
        <p:style>
          <a:lnRef idx="0"/>
          <a:fillRef idx="0"/>
          <a:effectRef idx="0"/>
          <a:fontRef idx="minor"/>
        </p:style>
        <p:txBody>
          <a:bodyPr lIns="0" rIns="38160" tIns="0" bIns="0" anchor="t">
            <a:noAutofit/>
          </a:bodyPr>
          <a:p>
            <a:pPr defTabSz="914400">
              <a:lnSpc>
                <a:spcPct val="100000"/>
              </a:lnSpc>
            </a:pPr>
            <a:r>
              <a:rPr b="1" lang="en-US" sz="1800" spc="-1" strike="noStrike">
                <a:solidFill>
                  <a:srgbClr val="132638"/>
                </a:solidFill>
                <a:latin typeface="Lato"/>
                <a:ea typeface="Lato"/>
              </a:rPr>
              <a:t>Kodu incele</a:t>
            </a:r>
            <a:endParaRPr b="0" lang="en-US" sz="1800" spc="-1" strike="noStrike">
              <a:solidFill>
                <a:srgbClr val="000000"/>
              </a:solidFill>
              <a:latin typeface="Arial"/>
            </a:endParaRPr>
          </a:p>
        </p:txBody>
      </p:sp>
      <p:sp>
        <p:nvSpPr>
          <p:cNvPr id="32" name="Dikdörtgen 14"/>
          <p:cNvSpPr/>
          <p:nvPr/>
        </p:nvSpPr>
        <p:spPr>
          <a:xfrm>
            <a:off x="4299120" y="3753000"/>
            <a:ext cx="3441240" cy="1561680"/>
          </a:xfrm>
          <a:prstGeom prst="rect">
            <a:avLst/>
          </a:prstGeom>
          <a:noFill/>
          <a:ln w="0">
            <a:noFill/>
          </a:ln>
        </p:spPr>
        <p:style>
          <a:lnRef idx="0"/>
          <a:fillRef idx="0"/>
          <a:effectRef idx="0"/>
          <a:fontRef idx="minor"/>
        </p:style>
        <p:txBody>
          <a:bodyPr lIns="0" rIns="57240" tIns="0" bIns="0" anchor="t">
            <a:noAutofit/>
          </a:bodyPr>
          <a:p>
            <a:pPr defTabSz="914400">
              <a:lnSpc>
                <a:spcPct val="100000"/>
              </a:lnSpc>
            </a:pPr>
            <a:r>
              <a:rPr b="0" lang="en-US" sz="1350" spc="-1" strike="noStrike">
                <a:solidFill>
                  <a:srgbClr val="314659"/>
                </a:solidFill>
                <a:latin typeface="Lato"/>
                <a:ea typeface="Lato"/>
              </a:rPr>
              <a:t>Kurulu örneğin çalışma kopyasında topic adını değiştir.</a:t>
            </a:r>
            <a:endParaRPr b="0" lang="en-US" sz="1350" spc="-1" strike="noStrike">
              <a:solidFill>
                <a:srgbClr val="000000"/>
              </a:solidFill>
              <a:latin typeface="Arial"/>
            </a:endParaRPr>
          </a:p>
        </p:txBody>
      </p:sp>
      <p:sp>
        <p:nvSpPr>
          <p:cNvPr id="33" name="Dikdörtgen 15"/>
          <p:cNvSpPr/>
          <p:nvPr/>
        </p:nvSpPr>
        <p:spPr>
          <a:xfrm>
            <a:off x="7912080" y="2076480"/>
            <a:ext cx="344124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550" spc="-1" strike="noStrike">
                <a:solidFill>
                  <a:srgbClr val="009b8e"/>
                </a:solidFill>
                <a:latin typeface="Lato"/>
                <a:ea typeface="Lato"/>
              </a:rPr>
              <a:t>03</a:t>
            </a:r>
            <a:endParaRPr b="0" lang="en-US" sz="2550" spc="-1" strike="noStrike">
              <a:solidFill>
                <a:srgbClr val="000000"/>
              </a:solidFill>
              <a:latin typeface="Arial"/>
            </a:endParaRPr>
          </a:p>
        </p:txBody>
      </p:sp>
      <p:sp>
        <p:nvSpPr>
          <p:cNvPr id="34" name="Düz Bağlayıcı 16"/>
          <p:cNvSpPr/>
          <p:nvPr/>
        </p:nvSpPr>
        <p:spPr>
          <a:xfrm>
            <a:off x="7912080" y="2695320"/>
            <a:ext cx="3441600" cy="360"/>
          </a:xfrm>
          <a:prstGeom prst="line">
            <a:avLst/>
          </a:prstGeom>
          <a:ln w="2857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35" name="Dikdörtgen 17"/>
          <p:cNvSpPr/>
          <p:nvPr/>
        </p:nvSpPr>
        <p:spPr>
          <a:xfrm>
            <a:off x="7912080" y="2895480"/>
            <a:ext cx="3441240" cy="704520"/>
          </a:xfrm>
          <a:prstGeom prst="rect">
            <a:avLst/>
          </a:prstGeom>
          <a:noFill/>
          <a:ln w="0">
            <a:noFill/>
          </a:ln>
        </p:spPr>
        <p:style>
          <a:lnRef idx="0"/>
          <a:fillRef idx="0"/>
          <a:effectRef idx="0"/>
          <a:fontRef idx="minor"/>
        </p:style>
        <p:txBody>
          <a:bodyPr lIns="0" rIns="38160" tIns="0" bIns="0" anchor="t">
            <a:noAutofit/>
          </a:bodyPr>
          <a:p>
            <a:pPr defTabSz="914400">
              <a:lnSpc>
                <a:spcPct val="100000"/>
              </a:lnSpc>
            </a:pPr>
            <a:r>
              <a:rPr b="1" lang="en-US" sz="1800" spc="-1" strike="noStrike">
                <a:solidFill>
                  <a:srgbClr val="132638"/>
                </a:solidFill>
                <a:latin typeface="Lato"/>
                <a:ea typeface="Lato"/>
              </a:rPr>
              <a:t>Burger’ı sür</a:t>
            </a:r>
            <a:endParaRPr b="0" lang="en-US" sz="1800" spc="-1" strike="noStrike">
              <a:solidFill>
                <a:srgbClr val="000000"/>
              </a:solidFill>
              <a:latin typeface="Arial"/>
            </a:endParaRPr>
          </a:p>
        </p:txBody>
      </p:sp>
      <p:sp>
        <p:nvSpPr>
          <p:cNvPr id="36" name="Dikdörtgen 18"/>
          <p:cNvSpPr/>
          <p:nvPr/>
        </p:nvSpPr>
        <p:spPr>
          <a:xfrm>
            <a:off x="7912080" y="3753000"/>
            <a:ext cx="3441240" cy="1561680"/>
          </a:xfrm>
          <a:prstGeom prst="rect">
            <a:avLst/>
          </a:prstGeom>
          <a:noFill/>
          <a:ln w="0">
            <a:noFill/>
          </a:ln>
        </p:spPr>
        <p:style>
          <a:lnRef idx="0"/>
          <a:fillRef idx="0"/>
          <a:effectRef idx="0"/>
          <a:fontRef idx="minor"/>
        </p:style>
        <p:txBody>
          <a:bodyPr lIns="0" rIns="57240" tIns="0" bIns="0" anchor="t">
            <a:noAutofit/>
          </a:bodyPr>
          <a:p>
            <a:pPr defTabSz="914400">
              <a:lnSpc>
                <a:spcPct val="100000"/>
              </a:lnSpc>
            </a:pPr>
            <a:r>
              <a:rPr b="0" lang="en-US" sz="1350" spc="-1" strike="noStrike">
                <a:solidFill>
                  <a:srgbClr val="314659"/>
                </a:solidFill>
                <a:latin typeface="Lato"/>
                <a:ea typeface="Lato"/>
              </a:rPr>
              <a:t>empty_world içinde teleop ile hareket et; /cmd_vel mesajını oku.</a:t>
            </a:r>
            <a:endParaRPr b="0" lang="en-US" sz="1350" spc="-1" strike="noStrike">
              <a:solidFill>
                <a:srgbClr val="000000"/>
              </a:solidFill>
              <a:latin typeface="Arial"/>
            </a:endParaRPr>
          </a:p>
        </p:txBody>
      </p:sp>
      <p:sp>
        <p:nvSpPr>
          <p:cNvPr id="37" name="Dikdörtgen: Köşeleri Yuvarlatılmış 19"/>
          <p:cNvSpPr/>
          <p:nvPr/>
        </p:nvSpPr>
        <p:spPr>
          <a:xfrm>
            <a:off x="685800" y="5638680"/>
            <a:ext cx="10667520" cy="514080"/>
          </a:xfrm>
          <a:prstGeom prst="roundRect">
            <a:avLst>
              <a:gd name="adj" fmla="val 22222"/>
            </a:avLst>
          </a:prstGeom>
          <a:solidFill>
            <a:srgbClr val="009b8e"/>
          </a:solidFill>
          <a:ln w="0">
            <a:noFill/>
          </a:ln>
        </p:spPr>
        <p:style>
          <a:lnRef idx="0"/>
          <a:fillRef idx="0"/>
          <a:effectRef idx="0"/>
          <a:fontRef idx="minor"/>
        </p:style>
        <p:txBody>
          <a:bodyPr lIns="76320" rIns="76320" tIns="57240" bIns="57240" anchor="ctr">
            <a:noAutofit/>
          </a:bodyPr>
          <a:p>
            <a:pPr defTabSz="914400">
              <a:lnSpc>
                <a:spcPct val="100000"/>
              </a:lnSpc>
            </a:pPr>
            <a:r>
              <a:rPr b="1" lang="en-US" sz="1350" spc="-1" strike="noStrike">
                <a:solidFill>
                  <a:srgbClr val="ffffff"/>
                </a:solidFill>
                <a:latin typeface="Lato"/>
                <a:ea typeface="Lato"/>
              </a:rPr>
              <a:t>Çıkış ölçütü: metin akışını ve hız komutunu farklı kanıtlarla açıkla.</a:t>
            </a:r>
            <a:endParaRPr b="0" lang="en-US" sz="13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38" name="Dikdörtgen 23"/>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39"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SİSTEM HARİTASI</a:t>
            </a:r>
            <a:endParaRPr b="0" lang="en-US" sz="980" spc="-1" strike="noStrike">
              <a:solidFill>
                <a:srgbClr val="000000"/>
              </a:solidFill>
              <a:latin typeface="Arial"/>
            </a:endParaRPr>
          </a:p>
        </p:txBody>
      </p:sp>
      <p:sp>
        <p:nvSpPr>
          <p:cNvPr id="40"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ROS 2 sistemi tek program değildir</a:t>
            </a:r>
            <a:endParaRPr b="0" lang="en-US" sz="2850" spc="-1" strike="noStrike">
              <a:solidFill>
                <a:srgbClr val="000000"/>
              </a:solidFill>
              <a:latin typeface="Arial"/>
            </a:endParaRPr>
          </a:p>
        </p:txBody>
      </p:sp>
      <p:sp>
        <p:nvSpPr>
          <p:cNvPr id="41"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42"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43"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03 / 16</a:t>
            </a:r>
            <a:endParaRPr b="0" lang="en-US" sz="900" spc="-1" strike="noStrike">
              <a:solidFill>
                <a:srgbClr val="000000"/>
              </a:solidFill>
              <a:latin typeface="Arial"/>
            </a:endParaRPr>
          </a:p>
        </p:txBody>
      </p:sp>
      <p:sp>
        <p:nvSpPr>
          <p:cNvPr id="44" name="Dikdörtgen 6"/>
          <p:cNvSpPr/>
          <p:nvPr/>
        </p:nvSpPr>
        <p:spPr>
          <a:xfrm>
            <a:off x="685800" y="1257480"/>
            <a:ext cx="1066752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650" spc="-1" strike="noStrike">
                <a:solidFill>
                  <a:srgbClr val="314659"/>
                </a:solidFill>
                <a:latin typeface="Lato"/>
                <a:ea typeface="Lato"/>
              </a:rPr>
              <a:t>Kurulu teleop komutu ROS üzerinden Gazebo’daki Burger modeline ulaşır.</a:t>
            </a:r>
            <a:endParaRPr b="0" lang="en-US" sz="1650" spc="-1" strike="noStrike">
              <a:solidFill>
                <a:srgbClr val="000000"/>
              </a:solidFill>
              <a:latin typeface="Arial"/>
            </a:endParaRPr>
          </a:p>
        </p:txBody>
      </p:sp>
      <p:sp>
        <p:nvSpPr>
          <p:cNvPr id="45" name="Dikdörtgen: Köşeleri Yuvarlatılmış 7"/>
          <p:cNvSpPr/>
          <p:nvPr/>
        </p:nvSpPr>
        <p:spPr>
          <a:xfrm>
            <a:off x="685800" y="2266920"/>
            <a:ext cx="2452320" cy="2381040"/>
          </a:xfrm>
          <a:prstGeom prst="roundRect">
            <a:avLst>
              <a:gd name="adj" fmla="val 6400"/>
            </a:avLst>
          </a:prstGeom>
          <a:solidFill>
            <a:srgbClr val="ffffff"/>
          </a:solidFill>
          <a:ln w="14288">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46" name="Dikdörtgen 8"/>
          <p:cNvSpPr/>
          <p:nvPr/>
        </p:nvSpPr>
        <p:spPr>
          <a:xfrm>
            <a:off x="800280" y="2400480"/>
            <a:ext cx="2223720" cy="399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650" spc="-1" strike="noStrike">
                <a:solidFill>
                  <a:srgbClr val="132638"/>
                </a:solidFill>
                <a:latin typeface="Lato"/>
                <a:ea typeface="Lato"/>
              </a:rPr>
              <a:t>teleop_keyboard</a:t>
            </a:r>
            <a:endParaRPr b="0" lang="en-US" sz="1650" spc="-1" strike="noStrike">
              <a:solidFill>
                <a:srgbClr val="000000"/>
              </a:solidFill>
              <a:latin typeface="Arial"/>
            </a:endParaRPr>
          </a:p>
        </p:txBody>
      </p:sp>
      <p:sp>
        <p:nvSpPr>
          <p:cNvPr id="47" name="Dikdörtgen 9"/>
          <p:cNvSpPr/>
          <p:nvPr/>
        </p:nvSpPr>
        <p:spPr>
          <a:xfrm>
            <a:off x="800280" y="2895480"/>
            <a:ext cx="2223720" cy="1638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314659"/>
                </a:solidFill>
                <a:latin typeface="Lato"/>
                <a:ea typeface="Lato"/>
              </a:rPr>
              <a:t>Klavye hedef hızını üretir</a:t>
            </a:r>
            <a:endParaRPr b="0" lang="en-US" sz="1200" spc="-1" strike="noStrike">
              <a:solidFill>
                <a:srgbClr val="000000"/>
              </a:solidFill>
              <a:latin typeface="Arial"/>
            </a:endParaRPr>
          </a:p>
        </p:txBody>
      </p:sp>
      <p:sp>
        <p:nvSpPr>
          <p:cNvPr id="48" name="Dikdörtgen: Köşeleri Yuvarlatılmış 10"/>
          <p:cNvSpPr/>
          <p:nvPr/>
        </p:nvSpPr>
        <p:spPr>
          <a:xfrm>
            <a:off x="3424320" y="2266920"/>
            <a:ext cx="2452320" cy="2381040"/>
          </a:xfrm>
          <a:prstGeom prst="roundRect">
            <a:avLst>
              <a:gd name="adj" fmla="val 6400"/>
            </a:avLst>
          </a:prstGeom>
          <a:solidFill>
            <a:srgbClr val="009b8e"/>
          </a:solidFill>
          <a:ln w="14288">
            <a:solidFill>
              <a:srgbClr val="009b8e"/>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49" name="Dikdörtgen 11"/>
          <p:cNvSpPr/>
          <p:nvPr/>
        </p:nvSpPr>
        <p:spPr>
          <a:xfrm>
            <a:off x="3538440" y="2400480"/>
            <a:ext cx="2223720" cy="399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650" spc="-1" strike="noStrike">
                <a:solidFill>
                  <a:srgbClr val="ffffff"/>
                </a:solidFill>
                <a:latin typeface="Lato"/>
                <a:ea typeface="Lato"/>
              </a:rPr>
              <a:t>/cmd_vel</a:t>
            </a:r>
            <a:endParaRPr b="0" lang="en-US" sz="1650" spc="-1" strike="noStrike">
              <a:solidFill>
                <a:srgbClr val="000000"/>
              </a:solidFill>
              <a:latin typeface="Arial"/>
            </a:endParaRPr>
          </a:p>
        </p:txBody>
      </p:sp>
      <p:sp>
        <p:nvSpPr>
          <p:cNvPr id="50" name="Dikdörtgen 12"/>
          <p:cNvSpPr/>
          <p:nvPr/>
        </p:nvSpPr>
        <p:spPr>
          <a:xfrm>
            <a:off x="3538440" y="2895480"/>
            <a:ext cx="2223720" cy="1638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ffffff"/>
                </a:solidFill>
                <a:latin typeface="Lato"/>
                <a:ea typeface="Lato"/>
              </a:rPr>
              <a:t>TwistStamped taşır</a:t>
            </a:r>
            <a:endParaRPr b="0" lang="en-US" sz="1200" spc="-1" strike="noStrike">
              <a:solidFill>
                <a:srgbClr val="000000"/>
              </a:solidFill>
              <a:latin typeface="Arial"/>
            </a:endParaRPr>
          </a:p>
        </p:txBody>
      </p:sp>
      <p:sp>
        <p:nvSpPr>
          <p:cNvPr id="51" name="Dikdörtgen: Köşeleri Yuvarlatılmış 13"/>
          <p:cNvSpPr/>
          <p:nvPr/>
        </p:nvSpPr>
        <p:spPr>
          <a:xfrm>
            <a:off x="6162840" y="2266920"/>
            <a:ext cx="2452320" cy="2381040"/>
          </a:xfrm>
          <a:prstGeom prst="roundRect">
            <a:avLst>
              <a:gd name="adj" fmla="val 6400"/>
            </a:avLst>
          </a:prstGeom>
          <a:solidFill>
            <a:srgbClr val="ffffff"/>
          </a:solidFill>
          <a:ln w="14288">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52" name="Dikdörtgen 14"/>
          <p:cNvSpPr/>
          <p:nvPr/>
        </p:nvSpPr>
        <p:spPr>
          <a:xfrm>
            <a:off x="6276960" y="2400480"/>
            <a:ext cx="2223720" cy="399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650" spc="-1" strike="noStrike">
                <a:solidFill>
                  <a:srgbClr val="132638"/>
                </a:solidFill>
                <a:latin typeface="Lato"/>
                <a:ea typeface="Lato"/>
              </a:rPr>
              <a:t>ros_gz_bridge</a:t>
            </a:r>
            <a:endParaRPr b="0" lang="en-US" sz="1650" spc="-1" strike="noStrike">
              <a:solidFill>
                <a:srgbClr val="000000"/>
              </a:solidFill>
              <a:latin typeface="Arial"/>
            </a:endParaRPr>
          </a:p>
        </p:txBody>
      </p:sp>
      <p:sp>
        <p:nvSpPr>
          <p:cNvPr id="53" name="Dikdörtgen 15"/>
          <p:cNvSpPr/>
          <p:nvPr/>
        </p:nvSpPr>
        <p:spPr>
          <a:xfrm>
            <a:off x="6276960" y="2895480"/>
            <a:ext cx="2223720" cy="1638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314659"/>
                </a:solidFill>
                <a:latin typeface="Lato"/>
                <a:ea typeface="Lato"/>
              </a:rPr>
              <a:t>ROS komutunu Gazebo’ya iletir</a:t>
            </a:r>
            <a:endParaRPr b="0" lang="en-US" sz="1200" spc="-1" strike="noStrike">
              <a:solidFill>
                <a:srgbClr val="000000"/>
              </a:solidFill>
              <a:latin typeface="Arial"/>
            </a:endParaRPr>
          </a:p>
        </p:txBody>
      </p:sp>
      <p:sp>
        <p:nvSpPr>
          <p:cNvPr id="54" name="Dikdörtgen: Köşeleri Yuvarlatılmış 16"/>
          <p:cNvSpPr/>
          <p:nvPr/>
        </p:nvSpPr>
        <p:spPr>
          <a:xfrm>
            <a:off x="8901000" y="2266920"/>
            <a:ext cx="2452320" cy="2381040"/>
          </a:xfrm>
          <a:prstGeom prst="roundRect">
            <a:avLst>
              <a:gd name="adj" fmla="val 6400"/>
            </a:avLst>
          </a:prstGeom>
          <a:solidFill>
            <a:srgbClr val="ffffff"/>
          </a:solidFill>
          <a:ln w="14288">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55" name="Dikdörtgen 17"/>
          <p:cNvSpPr/>
          <p:nvPr/>
        </p:nvSpPr>
        <p:spPr>
          <a:xfrm>
            <a:off x="9015480" y="2400480"/>
            <a:ext cx="2223720" cy="399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650" spc="-1" strike="noStrike">
                <a:solidFill>
                  <a:srgbClr val="132638"/>
                </a:solidFill>
                <a:latin typeface="Lato"/>
                <a:ea typeface="Lato"/>
              </a:rPr>
              <a:t>Burger</a:t>
            </a:r>
            <a:endParaRPr b="0" lang="en-US" sz="1650" spc="-1" strike="noStrike">
              <a:solidFill>
                <a:srgbClr val="000000"/>
              </a:solidFill>
              <a:latin typeface="Arial"/>
            </a:endParaRPr>
          </a:p>
        </p:txBody>
      </p:sp>
      <p:sp>
        <p:nvSpPr>
          <p:cNvPr id="56" name="Dikdörtgen 18"/>
          <p:cNvSpPr/>
          <p:nvPr/>
        </p:nvSpPr>
        <p:spPr>
          <a:xfrm>
            <a:off x="9015480" y="2895480"/>
            <a:ext cx="2223720" cy="1638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314659"/>
                </a:solidFill>
                <a:latin typeface="Lato"/>
                <a:ea typeface="Lato"/>
              </a:rPr>
              <a:t>Gazebo’da hareket eder</a:t>
            </a:r>
            <a:endParaRPr b="0" lang="en-US" sz="1200" spc="-1" strike="noStrike">
              <a:solidFill>
                <a:srgbClr val="000000"/>
              </a:solidFill>
              <a:latin typeface="Arial"/>
            </a:endParaRPr>
          </a:p>
        </p:txBody>
      </p:sp>
      <p:cxnSp>
        <p:nvCxnSpPr>
          <p:cNvPr id="57" name="Düz Ok Bağlayıcısı 42"/>
          <p:cNvCxnSpPr>
            <a:stCxn id="45" idx="3"/>
            <a:endCxn id="48" idx="1"/>
          </p:cNvCxnSpPr>
          <p:nvPr/>
        </p:nvCxnSpPr>
        <p:spPr>
          <a:xfrm>
            <a:off x="3138120" y="3457440"/>
            <a:ext cx="286560" cy="360"/>
          </a:xfrm>
          <a:prstGeom prst="straightConnector1">
            <a:avLst/>
          </a:prstGeom>
          <a:ln w="28575">
            <a:solidFill>
              <a:srgbClr val="009b8e"/>
            </a:solidFill>
            <a:round/>
            <a:tailEnd len="sm" type="triangle" w="sm"/>
          </a:ln>
        </p:spPr>
      </p:cxnSp>
      <p:cxnSp>
        <p:nvCxnSpPr>
          <p:cNvPr id="58" name="Düz Ok Bağlayıcısı 43"/>
          <p:cNvCxnSpPr>
            <a:stCxn id="48" idx="3"/>
            <a:endCxn id="51" idx="1"/>
          </p:cNvCxnSpPr>
          <p:nvPr/>
        </p:nvCxnSpPr>
        <p:spPr>
          <a:xfrm>
            <a:off x="5876640" y="3457440"/>
            <a:ext cx="286560" cy="360"/>
          </a:xfrm>
          <a:prstGeom prst="straightConnector1">
            <a:avLst/>
          </a:prstGeom>
          <a:ln w="28575">
            <a:solidFill>
              <a:srgbClr val="009b8e"/>
            </a:solidFill>
            <a:round/>
            <a:tailEnd len="sm" type="triangle" w="sm"/>
          </a:ln>
        </p:spPr>
      </p:cxnSp>
      <p:cxnSp>
        <p:nvCxnSpPr>
          <p:cNvPr id="59" name="Düz Ok Bağlayıcısı 44"/>
          <p:cNvCxnSpPr>
            <a:stCxn id="51" idx="3"/>
            <a:endCxn id="54" idx="1"/>
          </p:cNvCxnSpPr>
          <p:nvPr/>
        </p:nvCxnSpPr>
        <p:spPr>
          <a:xfrm>
            <a:off x="8615160" y="3457440"/>
            <a:ext cx="286200" cy="360"/>
          </a:xfrm>
          <a:prstGeom prst="straightConnector1">
            <a:avLst/>
          </a:prstGeom>
          <a:ln w="28575">
            <a:solidFill>
              <a:srgbClr val="009b8e"/>
            </a:solidFill>
            <a:round/>
            <a:tailEnd len="sm" type="triangle" w="sm"/>
          </a:ln>
        </p:spPr>
      </p:cxnSp>
      <p:sp>
        <p:nvSpPr>
          <p:cNvPr id="60" name="Dikdörtgen: Köşeleri Yuvarlatılmış 22"/>
          <p:cNvSpPr/>
          <p:nvPr/>
        </p:nvSpPr>
        <p:spPr>
          <a:xfrm>
            <a:off x="685800" y="4971960"/>
            <a:ext cx="10667520" cy="780840"/>
          </a:xfrm>
          <a:prstGeom prst="roundRect">
            <a:avLst>
              <a:gd name="adj" fmla="val 14634"/>
            </a:avLst>
          </a:prstGeom>
          <a:solidFill>
            <a:srgbClr val="ffffff"/>
          </a:solidFill>
          <a:ln w="9525">
            <a:solidFill>
              <a:srgbClr val="d7e1e6"/>
            </a:solidFill>
            <a:round/>
          </a:ln>
        </p:spPr>
        <p:style>
          <a:lnRef idx="0"/>
          <a:fillRef idx="0"/>
          <a:effectRef idx="0"/>
          <a:fontRef idx="minor"/>
        </p:style>
        <p:txBody>
          <a:bodyPr lIns="76320" rIns="76320" tIns="57240" bIns="57240" anchor="ctr">
            <a:noAutofit/>
          </a:bodyPr>
          <a:p>
            <a:pPr algn="ctr" defTabSz="914400">
              <a:lnSpc>
                <a:spcPct val="100000"/>
              </a:lnSpc>
            </a:pPr>
            <a:r>
              <a:rPr b="1" lang="en-US" sz="1500" spc="-1" strike="noStrike">
                <a:solidFill>
                  <a:srgbClr val="009b8e"/>
                </a:solidFill>
                <a:latin typeface="Lato"/>
                <a:ea typeface="Lato"/>
              </a:rPr>
              <a:t>Önce mesaj yolunu okuyacağız, sonra robotun hareketini gözleyeceğiz.</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61" name="Dikdörtgen 13"/>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62"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KAVRAM</a:t>
            </a:r>
            <a:endParaRPr b="0" lang="en-US" sz="980" spc="-1" strike="noStrike">
              <a:solidFill>
                <a:srgbClr val="000000"/>
              </a:solidFill>
              <a:latin typeface="Arial"/>
            </a:endParaRPr>
          </a:p>
        </p:txBody>
      </p:sp>
      <p:sp>
        <p:nvSpPr>
          <p:cNvPr id="63"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Node, topic ve message</a:t>
            </a:r>
            <a:endParaRPr b="0" lang="en-US" sz="2850" spc="-1" strike="noStrike">
              <a:solidFill>
                <a:srgbClr val="000000"/>
              </a:solidFill>
              <a:latin typeface="Arial"/>
            </a:endParaRPr>
          </a:p>
        </p:txBody>
      </p:sp>
      <p:sp>
        <p:nvSpPr>
          <p:cNvPr id="64"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65"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66"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04 / 16</a:t>
            </a:r>
            <a:endParaRPr b="0" lang="en-US" sz="900" spc="-1" strike="noStrike">
              <a:solidFill>
                <a:srgbClr val="000000"/>
              </a:solidFill>
              <a:latin typeface="Arial"/>
            </a:endParaRPr>
          </a:p>
        </p:txBody>
      </p:sp>
      <p:sp>
        <p:nvSpPr>
          <p:cNvPr id="67" name="Dikdörtgen 6"/>
          <p:cNvSpPr/>
          <p:nvPr/>
        </p:nvSpPr>
        <p:spPr>
          <a:xfrm>
            <a:off x="685800" y="1266840"/>
            <a:ext cx="4762080" cy="1123560"/>
          </a:xfrm>
          <a:prstGeom prst="rect">
            <a:avLst/>
          </a:prstGeom>
          <a:noFill/>
          <a:ln w="0">
            <a:noFill/>
          </a:ln>
        </p:spPr>
        <p:style>
          <a:lnRef idx="0"/>
          <a:fillRef idx="0"/>
          <a:effectRef idx="0"/>
          <a:fontRef idx="minor"/>
        </p:style>
        <p:txBody>
          <a:bodyPr lIns="0" rIns="133200" tIns="0" bIns="0" anchor="ctr">
            <a:noAutofit/>
          </a:bodyPr>
          <a:p>
            <a:pPr defTabSz="914400">
              <a:lnSpc>
                <a:spcPct val="100000"/>
              </a:lnSpc>
            </a:pPr>
            <a:r>
              <a:rPr b="1" lang="en-US" sz="2850" spc="-1" strike="noStrike">
                <a:solidFill>
                  <a:srgbClr val="009b8e"/>
                </a:solidFill>
                <a:latin typeface="Lato"/>
                <a:ea typeface="Lato"/>
              </a:rPr>
              <a:t>Kim? Nereden? Hangi biçimde?</a:t>
            </a:r>
            <a:endParaRPr b="0" lang="en-US" sz="2850" spc="-1" strike="noStrike">
              <a:solidFill>
                <a:srgbClr val="000000"/>
              </a:solidFill>
              <a:latin typeface="Arial"/>
            </a:endParaRPr>
          </a:p>
        </p:txBody>
      </p:sp>
      <p:sp>
        <p:nvSpPr>
          <p:cNvPr id="68" name="Dikdörtgen 7"/>
          <p:cNvSpPr/>
          <p:nvPr/>
        </p:nvSpPr>
        <p:spPr>
          <a:xfrm>
            <a:off x="685800" y="2434680"/>
            <a:ext cx="4809600" cy="1028520"/>
          </a:xfrm>
          <a:prstGeom prst="rect">
            <a:avLst/>
          </a:prstGeom>
          <a:noFill/>
          <a:ln w="0">
            <a:noFill/>
          </a:ln>
        </p:spPr>
        <p:style>
          <a:lnRef idx="0"/>
          <a:fillRef idx="0"/>
          <a:effectRef idx="0"/>
          <a:fontRef idx="minor"/>
        </p:style>
        <p:txBody>
          <a:bodyPr lIns="0" rIns="171360" tIns="0" bIns="0" anchor="t">
            <a:noAutofit/>
          </a:bodyPr>
          <a:p>
            <a:pPr defTabSz="914400">
              <a:lnSpc>
                <a:spcPct val="100000"/>
              </a:lnSpc>
            </a:pPr>
            <a:r>
              <a:rPr b="0" lang="en-US" sz="1650" spc="-1" strike="noStrike">
                <a:solidFill>
                  <a:srgbClr val="314659"/>
                </a:solidFill>
                <a:latin typeface="Lato"/>
                <a:ea typeface="Lato"/>
              </a:rPr>
              <a:t>Üç kavramı aynı cümlede kullanmak, ROS grafiğini anlamanın en kısa yoludur.</a:t>
            </a:r>
            <a:endParaRPr b="0" lang="en-US" sz="1650" spc="-1" strike="noStrike">
              <a:solidFill>
                <a:srgbClr val="000000"/>
              </a:solidFill>
              <a:latin typeface="Arial"/>
            </a:endParaRPr>
          </a:p>
        </p:txBody>
      </p:sp>
      <p:sp>
        <p:nvSpPr>
          <p:cNvPr id="69" name="Dikdörtgen 8"/>
          <p:cNvSpPr/>
          <p:nvPr/>
        </p:nvSpPr>
        <p:spPr>
          <a:xfrm>
            <a:off x="685800" y="3520440"/>
            <a:ext cx="4809600" cy="279756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901"/>
              </a:spcAft>
              <a:buClr>
                <a:srgbClr val="314659"/>
              </a:buClr>
              <a:buFont typeface="Symbol" charset="2"/>
              <a:buChar char=""/>
            </a:pPr>
            <a:r>
              <a:rPr b="1" lang="en-US" sz="1500" spc="-1" strike="noStrike">
                <a:solidFill>
                  <a:srgbClr val="314659"/>
                </a:solidFill>
                <a:latin typeface="Lato"/>
                <a:ea typeface="Lato"/>
              </a:rPr>
              <a:t>Node</a:t>
            </a:r>
            <a:r>
              <a:rPr b="0" lang="en-US" sz="1500" spc="-1" strike="noStrike">
                <a:solidFill>
                  <a:srgbClr val="314659"/>
                </a:solidFill>
                <a:latin typeface="Lato"/>
                <a:ea typeface="Lato"/>
              </a:rPr>
              <a:t> Robotun içindeki kalabalık bir ekipte yer alan, sadece tek bir uzmanlık alanından sorumlu bir görevlidir yani bağımsız çalıştıralabilir bir program scripttir.</a:t>
            </a:r>
            <a:endParaRPr b="0" lang="en-US" sz="1500" spc="-1" strike="noStrike">
              <a:solidFill>
                <a:srgbClr val="000000"/>
              </a:solidFill>
              <a:latin typeface="Arial"/>
            </a:endParaRPr>
          </a:p>
          <a:p>
            <a:pPr marL="127080" defTabSz="914400">
              <a:lnSpc>
                <a:spcPct val="100000"/>
              </a:lnSpc>
              <a:spcAft>
                <a:spcPts val="901"/>
              </a:spcAft>
            </a:pP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1" lang="en-US" sz="1500" spc="-1" strike="noStrike">
                <a:solidFill>
                  <a:srgbClr val="314659"/>
                </a:solidFill>
                <a:latin typeface="Lato"/>
                <a:ea typeface="Lato"/>
              </a:rPr>
              <a:t>Topic</a:t>
            </a:r>
            <a:r>
              <a:rPr b="0" lang="en-US" sz="1500" spc="-1" strike="noStrike">
                <a:solidFill>
                  <a:srgbClr val="314659"/>
                </a:solidFill>
                <a:latin typeface="Lato"/>
                <a:ea typeface="Lato"/>
              </a:rPr>
              <a:t>, Node'lar birbinin kim olduğunu bilmez ama birbirlerine veri göndermeleri gerekir. Sadece ortak ve eşsiz bir "topic adı" üzerinden buluşurlar yani iletişim sağlayan bir veri yoludur.</a:t>
            </a:r>
            <a:endParaRPr b="0" lang="en-US" sz="1500" spc="-1" strike="noStrike">
              <a:solidFill>
                <a:srgbClr val="000000"/>
              </a:solidFill>
              <a:latin typeface="Arial"/>
            </a:endParaRPr>
          </a:p>
        </p:txBody>
      </p:sp>
      <p:sp>
        <p:nvSpPr>
          <p:cNvPr id="70" name="Dikdörtgen: Köşeleri Yuvarlatılmış 9"/>
          <p:cNvSpPr/>
          <p:nvPr/>
        </p:nvSpPr>
        <p:spPr>
          <a:xfrm>
            <a:off x="6076800" y="609480"/>
            <a:ext cx="5238360" cy="4476240"/>
          </a:xfrm>
          <a:prstGeom prst="roundRect">
            <a:avLst>
              <a:gd name="adj" fmla="val 3830"/>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71" name="Dikdörtgen 10"/>
          <p:cNvSpPr/>
          <p:nvPr/>
        </p:nvSpPr>
        <p:spPr>
          <a:xfrm>
            <a:off x="6400800" y="914400"/>
            <a:ext cx="4190760" cy="24732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ÖRNEK ÜZERİNDEN</a:t>
            </a:r>
            <a:endParaRPr b="0" lang="en-US" sz="980" spc="-1" strike="noStrike">
              <a:solidFill>
                <a:srgbClr val="000000"/>
              </a:solidFill>
              <a:latin typeface="Arial"/>
            </a:endParaRPr>
          </a:p>
        </p:txBody>
      </p:sp>
      <p:sp>
        <p:nvSpPr>
          <p:cNvPr id="72" name="Dikdörtgen 11"/>
          <p:cNvSpPr/>
          <p:nvPr/>
        </p:nvSpPr>
        <p:spPr>
          <a:xfrm>
            <a:off x="6400800" y="1333440"/>
            <a:ext cx="4476240" cy="8377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320" spc="-1" strike="noStrike">
                <a:solidFill>
                  <a:srgbClr val="132638"/>
                </a:solidFill>
                <a:latin typeface="Lato"/>
                <a:ea typeface="Lato"/>
              </a:rPr>
              <a:t>teleop_keyboard, /cmd_vel üzerinde hız yayımlar</a:t>
            </a:r>
            <a:endParaRPr b="0" lang="en-US" sz="2320" spc="-1" strike="noStrike">
              <a:solidFill>
                <a:srgbClr val="000000"/>
              </a:solidFill>
              <a:latin typeface="Arial"/>
            </a:endParaRPr>
          </a:p>
        </p:txBody>
      </p:sp>
      <p:sp>
        <p:nvSpPr>
          <p:cNvPr id="73" name="Dikdörtgen 12"/>
          <p:cNvSpPr/>
          <p:nvPr/>
        </p:nvSpPr>
        <p:spPr>
          <a:xfrm>
            <a:off x="6362640" y="2381400"/>
            <a:ext cx="4514400" cy="21902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Kim: /teleop_keyboard</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Nereden: /cmd_vel</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Biçim: bu Jazzy pakette TwistStamped</a:t>
            </a:r>
            <a:endParaRPr b="0" lang="en-US" sz="1500" spc="-1" strike="noStrike">
              <a:solidFill>
                <a:srgbClr val="000000"/>
              </a:solidFill>
              <a:latin typeface="Arial"/>
            </a:endParaRPr>
          </a:p>
        </p:txBody>
      </p:sp>
      <p:sp>
        <p:nvSpPr>
          <p:cNvPr id="74" name="Metin kutusu 14"/>
          <p:cNvSpPr/>
          <p:nvPr/>
        </p:nvSpPr>
        <p:spPr>
          <a:xfrm>
            <a:off x="5495760" y="5143320"/>
            <a:ext cx="5701680" cy="1049760"/>
          </a:xfrm>
          <a:prstGeom prst="rect">
            <a:avLst/>
          </a:prstGeom>
          <a:noFill/>
          <a:ln w="0">
            <a:noFill/>
          </a:ln>
        </p:spPr>
        <p:style>
          <a:lnRef idx="0"/>
          <a:fillRef idx="0"/>
          <a:effectRef idx="0"/>
          <a:fontRef idx="minor"/>
        </p:style>
        <p:txBody>
          <a:bodyPr lIns="90000" rIns="90000" tIns="45000" bIns="45000" anchor="t">
            <a:spAutoFit/>
          </a:bodyPr>
          <a:p>
            <a:pPr marL="241200" indent="-114480" defTabSz="914400">
              <a:lnSpc>
                <a:spcPct val="100000"/>
              </a:lnSpc>
              <a:buClr>
                <a:srgbClr val="314659"/>
              </a:buClr>
              <a:buFont typeface="Symbol" charset="2"/>
              <a:buChar char=""/>
            </a:pPr>
            <a:r>
              <a:rPr b="1" lang="en-US" sz="1500" spc="-1" strike="noStrike">
                <a:solidFill>
                  <a:srgbClr val="314659"/>
                </a:solidFill>
                <a:latin typeface="Lato"/>
                <a:ea typeface="Lato"/>
              </a:rPr>
              <a:t>Message</a:t>
            </a:r>
            <a:r>
              <a:rPr b="0" lang="en-US" sz="1500" spc="-1" strike="noStrike">
                <a:solidFill>
                  <a:srgbClr val="314659"/>
                </a:solidFill>
                <a:latin typeface="Lato"/>
                <a:ea typeface="Lato"/>
              </a:rPr>
              <a:t>, </a:t>
            </a:r>
            <a:r>
              <a:rPr b="0" lang="en-US" sz="1500" spc="-1" strike="noStrike">
                <a:solidFill>
                  <a:srgbClr val="314659"/>
                </a:solidFill>
                <a:latin typeface="Lato"/>
                <a:ea typeface="Calibri"/>
              </a:rPr>
              <a:t>Topic üzerinden akacak olan verinin tam olarak hangi veri tiplerinden (float, integer, string) oluşacağını belirleyen son derece katı kurallı bir veri yapısıdır.</a:t>
            </a:r>
            <a:r>
              <a:rPr b="0" lang="en-US" sz="1500" spc="-1" strike="noStrike">
                <a:solidFill>
                  <a:srgbClr val="314659"/>
                </a:solidFill>
                <a:latin typeface="Lato"/>
                <a:ea typeface="Lato"/>
              </a:rPr>
              <a:t>.</a:t>
            </a:r>
            <a:endParaRPr b="0" lang="en-US" sz="15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75" name="Dikdörtgen 15"/>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76"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KARŞILAŞTIRMA</a:t>
            </a:r>
            <a:endParaRPr b="0" lang="en-US" sz="980" spc="-1" strike="noStrike">
              <a:solidFill>
                <a:srgbClr val="000000"/>
              </a:solidFill>
              <a:latin typeface="Arial"/>
            </a:endParaRPr>
          </a:p>
        </p:txBody>
      </p:sp>
      <p:sp>
        <p:nvSpPr>
          <p:cNvPr id="77"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Workspace ile package aynı şey değildir</a:t>
            </a:r>
            <a:endParaRPr b="0" lang="en-US" sz="2850" spc="-1" strike="noStrike">
              <a:solidFill>
                <a:srgbClr val="000000"/>
              </a:solidFill>
              <a:latin typeface="Arial"/>
            </a:endParaRPr>
          </a:p>
        </p:txBody>
      </p:sp>
      <p:sp>
        <p:nvSpPr>
          <p:cNvPr id="78"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79"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80"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05 / 16</a:t>
            </a:r>
            <a:endParaRPr b="0" lang="en-US" sz="900" spc="-1" strike="noStrike">
              <a:solidFill>
                <a:srgbClr val="000000"/>
              </a:solidFill>
              <a:latin typeface="Arial"/>
            </a:endParaRPr>
          </a:p>
        </p:txBody>
      </p:sp>
      <p:sp>
        <p:nvSpPr>
          <p:cNvPr id="81" name="Dikdörtgen 6"/>
          <p:cNvSpPr/>
          <p:nvPr/>
        </p:nvSpPr>
        <p:spPr>
          <a:xfrm>
            <a:off x="685800" y="1257480"/>
            <a:ext cx="1066752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00" spc="-1" strike="noStrike">
                <a:solidFill>
                  <a:srgbClr val="65798a"/>
                </a:solidFill>
                <a:latin typeface="Lato"/>
                <a:ea typeface="Lato"/>
              </a:rPr>
              <a:t>Hazır ROS paketlerini kullanacağız; bu hafta çalışma alanı derlemeyeceğiz.</a:t>
            </a:r>
            <a:endParaRPr b="0" lang="en-US" sz="1500" spc="-1" strike="noStrike">
              <a:solidFill>
                <a:srgbClr val="000000"/>
              </a:solidFill>
              <a:latin typeface="Arial"/>
            </a:endParaRPr>
          </a:p>
        </p:txBody>
      </p:sp>
      <p:sp>
        <p:nvSpPr>
          <p:cNvPr id="82" name="Dikdörtgen: Köşeleri Yuvarlatılmış 7"/>
          <p:cNvSpPr/>
          <p:nvPr/>
        </p:nvSpPr>
        <p:spPr>
          <a:xfrm>
            <a:off x="685800" y="2038320"/>
            <a:ext cx="5105160" cy="3600000"/>
          </a:xfrm>
          <a:prstGeom prst="roundRect">
            <a:avLst>
              <a:gd name="adj" fmla="val 4762"/>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83" name="Dikdörtgen 8"/>
          <p:cNvSpPr/>
          <p:nvPr/>
        </p:nvSpPr>
        <p:spPr>
          <a:xfrm>
            <a:off x="971640" y="2266920"/>
            <a:ext cx="4533480" cy="495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pc="-1" strike="noStrike">
                <a:solidFill>
                  <a:srgbClr val="132638"/>
                </a:solidFill>
                <a:latin typeface="Lato"/>
                <a:ea typeface="Lato"/>
              </a:rPr>
              <a:t>Workspace</a:t>
            </a:r>
            <a:endParaRPr b="0" lang="en-US" sz="2100" spc="-1" strike="noStrike">
              <a:solidFill>
                <a:srgbClr val="000000"/>
              </a:solidFill>
              <a:latin typeface="Arial"/>
            </a:endParaRPr>
          </a:p>
        </p:txBody>
      </p:sp>
      <p:sp>
        <p:nvSpPr>
          <p:cNvPr id="84" name="Dikdörtgen 9"/>
          <p:cNvSpPr/>
          <p:nvPr/>
        </p:nvSpPr>
        <p:spPr>
          <a:xfrm>
            <a:off x="933480" y="2933640"/>
            <a:ext cx="4533480" cy="22856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Bir veya daha fazla paketin kaynak alanıdır.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Kaynak kod ve derleme çıktıları burada düzenlenir.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Bu hafta colcon build yapmıyoruz.</a:t>
            </a:r>
            <a:endParaRPr b="0" lang="en-US" sz="1500" spc="-1" strike="noStrike">
              <a:solidFill>
                <a:srgbClr val="000000"/>
              </a:solidFill>
              <a:latin typeface="Arial"/>
            </a:endParaRPr>
          </a:p>
        </p:txBody>
      </p:sp>
      <p:sp>
        <p:nvSpPr>
          <p:cNvPr id="85" name="Dikdörtgen 10"/>
          <p:cNvSpPr/>
          <p:nvPr/>
        </p:nvSpPr>
        <p:spPr>
          <a:xfrm>
            <a:off x="971640" y="5219640"/>
            <a:ext cx="453348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050" spc="-1" strike="noStrike">
                <a:solidFill>
                  <a:srgbClr val="65798a"/>
                </a:solidFill>
                <a:latin typeface="Lato"/>
                <a:ea typeface="Lato"/>
              </a:rPr>
              <a:t>Kavramı öğreniyoruz</a:t>
            </a:r>
            <a:endParaRPr b="0" lang="en-US" sz="1050" spc="-1" strike="noStrike">
              <a:solidFill>
                <a:srgbClr val="000000"/>
              </a:solidFill>
              <a:latin typeface="Arial"/>
            </a:endParaRPr>
          </a:p>
        </p:txBody>
      </p:sp>
      <p:sp>
        <p:nvSpPr>
          <p:cNvPr id="86" name="Dikdörtgen: Köşeleri Yuvarlatılmış 11"/>
          <p:cNvSpPr/>
          <p:nvPr/>
        </p:nvSpPr>
        <p:spPr>
          <a:xfrm>
            <a:off x="6248520" y="2038320"/>
            <a:ext cx="5105160" cy="3600000"/>
          </a:xfrm>
          <a:prstGeom prst="roundRect">
            <a:avLst>
              <a:gd name="adj" fmla="val 4762"/>
            </a:avLst>
          </a:prstGeom>
          <a:solidFill>
            <a:srgbClr val="f2f7f8"/>
          </a:solidFill>
          <a:ln w="19050">
            <a:solidFill>
              <a:srgbClr val="009b8e"/>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87" name="Dikdörtgen 12"/>
          <p:cNvSpPr/>
          <p:nvPr/>
        </p:nvSpPr>
        <p:spPr>
          <a:xfrm>
            <a:off x="6534000" y="2266920"/>
            <a:ext cx="4533480" cy="495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pc="-1" strike="noStrike">
                <a:solidFill>
                  <a:srgbClr val="009b8e"/>
                </a:solidFill>
                <a:latin typeface="Lato"/>
                <a:ea typeface="Lato"/>
              </a:rPr>
              <a:t>Package</a:t>
            </a:r>
            <a:endParaRPr b="0" lang="en-US" sz="2100" spc="-1" strike="noStrike">
              <a:solidFill>
                <a:srgbClr val="000000"/>
              </a:solidFill>
              <a:latin typeface="Arial"/>
            </a:endParaRPr>
          </a:p>
        </p:txBody>
      </p:sp>
      <p:sp>
        <p:nvSpPr>
          <p:cNvPr id="88" name="Dikdörtgen 13"/>
          <p:cNvSpPr/>
          <p:nvPr/>
        </p:nvSpPr>
        <p:spPr>
          <a:xfrm>
            <a:off x="6496200" y="2933640"/>
            <a:ext cx="4533480" cy="22856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demo_nodes_py kurulu bir pakettir.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turtlebot3_gazebo hazır simülasyon sağlar.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turtlebot3_teleop klavye kontrolü sağlar.</a:t>
            </a:r>
            <a:endParaRPr b="0" lang="en-US" sz="1500" spc="-1" strike="noStrike">
              <a:solidFill>
                <a:srgbClr val="000000"/>
              </a:solidFill>
              <a:latin typeface="Arial"/>
            </a:endParaRPr>
          </a:p>
        </p:txBody>
      </p:sp>
      <p:sp>
        <p:nvSpPr>
          <p:cNvPr id="89" name="Dikdörtgen 14"/>
          <p:cNvSpPr/>
          <p:nvPr/>
        </p:nvSpPr>
        <p:spPr>
          <a:xfrm>
            <a:off x="6534000" y="5219640"/>
            <a:ext cx="453348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050" spc="-1" strike="noStrike">
                <a:solidFill>
                  <a:srgbClr val="009b8e"/>
                </a:solidFill>
                <a:latin typeface="Lato"/>
                <a:ea typeface="Lato"/>
              </a:rPr>
              <a:t>/opt/ros/jazzy altındaki paketler</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90" name="Dikdörtgen 11"/>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91"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CANLI DEMO</a:t>
            </a:r>
            <a:endParaRPr b="0" lang="en-US" sz="980" spc="-1" strike="noStrike">
              <a:solidFill>
                <a:srgbClr val="000000"/>
              </a:solidFill>
              <a:latin typeface="Arial"/>
            </a:endParaRPr>
          </a:p>
        </p:txBody>
      </p:sp>
      <p:sp>
        <p:nvSpPr>
          <p:cNvPr id="92"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Altı sorguyla /chatter akışı</a:t>
            </a:r>
            <a:endParaRPr b="0" lang="en-US" sz="2850" spc="-1" strike="noStrike">
              <a:solidFill>
                <a:srgbClr val="000000"/>
              </a:solidFill>
              <a:latin typeface="Arial"/>
            </a:endParaRPr>
          </a:p>
        </p:txBody>
      </p:sp>
      <p:sp>
        <p:nvSpPr>
          <p:cNvPr id="93"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94"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95"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06 / 16</a:t>
            </a:r>
            <a:endParaRPr b="0" lang="en-US" sz="900" spc="-1" strike="noStrike">
              <a:solidFill>
                <a:srgbClr val="000000"/>
              </a:solidFill>
              <a:latin typeface="Arial"/>
            </a:endParaRPr>
          </a:p>
        </p:txBody>
      </p:sp>
      <p:sp>
        <p:nvSpPr>
          <p:cNvPr id="96" name="Dikdörtgen 6"/>
          <p:cNvSpPr/>
          <p:nvPr/>
        </p:nvSpPr>
        <p:spPr>
          <a:xfrm>
            <a:off x="685800" y="1257480"/>
            <a:ext cx="1066752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430" spc="-1" strike="noStrike">
                <a:solidFill>
                  <a:srgbClr val="65798a"/>
                </a:solidFill>
                <a:latin typeface="Lato"/>
                <a:ea typeface="Lato"/>
              </a:rPr>
              <a:t>Önce kim ve ne var, sonra bağlantı ve gerçek mesaj.</a:t>
            </a:r>
            <a:endParaRPr b="0" lang="en-US" sz="1430" spc="-1" strike="noStrike">
              <a:solidFill>
                <a:srgbClr val="000000"/>
              </a:solidFill>
              <a:latin typeface="Arial"/>
            </a:endParaRPr>
          </a:p>
        </p:txBody>
      </p:sp>
      <p:sp>
        <p:nvSpPr>
          <p:cNvPr id="97" name="Dikdörtgen: Köşeleri Yuvarlatılmış 7"/>
          <p:cNvSpPr/>
          <p:nvPr/>
        </p:nvSpPr>
        <p:spPr>
          <a:xfrm>
            <a:off x="685800" y="1962000"/>
            <a:ext cx="6667200" cy="3733560"/>
          </a:xfrm>
          <a:prstGeom prst="roundRect">
            <a:avLst>
              <a:gd name="adj" fmla="val 4082"/>
            </a:avLst>
          </a:prstGeom>
          <a:solidFill>
            <a:srgbClr val="10263a"/>
          </a:solidFill>
          <a:ln w="0">
            <a:noFill/>
          </a:ln>
          <a:effectLst>
            <a:outerShdw blurRad="19080" dir="5400000" dist="9360">
              <a:srgbClr val="000000">
                <a:alpha val="6000"/>
              </a:srgbClr>
            </a:outerShdw>
          </a:effectLst>
        </p:spPr>
        <p:style>
          <a:lnRef idx="0"/>
          <a:fillRef idx="0"/>
          <a:effectRef idx="4"/>
          <a:fontRef idx="minor"/>
        </p:style>
        <p:txBody>
          <a:bodyPr lIns="228600" rIns="228600" tIns="228600" bIns="190440" anchor="t">
            <a:noAutofit/>
          </a:bodyPr>
          <a:p>
            <a:pPr defTabSz="914400">
              <a:lnSpc>
                <a:spcPct val="100000"/>
              </a:lnSpc>
            </a:pPr>
            <a:r>
              <a:rPr b="0" lang="en-US" sz="1130" spc="-1" strike="noStrike">
                <a:solidFill>
                  <a:srgbClr val="d7eef5"/>
                </a:solidFill>
                <a:latin typeface="DejaVu Sans Mono"/>
                <a:ea typeface="DejaVu Sans Mono"/>
              </a:rPr>
              <a:t># Çalışan düğümler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node list</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Görünen topic adları</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topic list</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/chatter mesaj türü</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topic type /chatter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Yayıncı ve abone sayısı</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topic info /chatter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Listener’ın abonelikleri</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node info /listener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Canlı data alanı; Ctrl+C ile bitir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topic echo /chatter</a:t>
            </a:r>
            <a:endParaRPr b="0" lang="en-US" sz="1130" spc="-1" strike="noStrike">
              <a:solidFill>
                <a:srgbClr val="ffffff"/>
              </a:solidFill>
              <a:latin typeface="Arial"/>
            </a:endParaRPr>
          </a:p>
        </p:txBody>
      </p:sp>
      <p:sp>
        <p:nvSpPr>
          <p:cNvPr id="98" name="Dikdörtgen 9"/>
          <p:cNvSpPr/>
          <p:nvPr/>
        </p:nvSpPr>
        <p:spPr>
          <a:xfrm>
            <a:off x="7810560" y="2495520"/>
            <a:ext cx="3485880" cy="232380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430" spc="-1" strike="noStrike">
                <a:solidFill>
                  <a:srgbClr val="314659"/>
                </a:solidFill>
                <a:latin typeface="Lato"/>
                <a:ea typeface="Lato"/>
              </a:rPr>
              <a:t>Sıra: liste → tür → bağlantı → içerik</a:t>
            </a:r>
            <a:endParaRPr b="0" lang="en-US" sz="143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430" spc="-1" strike="noStrike">
                <a:solidFill>
                  <a:srgbClr val="314659"/>
                </a:solidFill>
                <a:latin typeface="Lato"/>
                <a:ea typeface="Lato"/>
              </a:rPr>
              <a:t>Echo iki kez yazılmıştı; bir kez yeter.</a:t>
            </a:r>
            <a:endParaRPr b="0" lang="en-US" sz="143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430" spc="-1" strike="noStrike">
                <a:solidFill>
                  <a:srgbClr val="314659"/>
                </a:solidFill>
                <a:latin typeface="Lato"/>
                <a:ea typeface="Lato"/>
              </a:rPr>
              <a:t>Talker ve listener çalışırken uygula.</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99" name="Dikdörtgen 15"/>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00"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KARŞILAŞTIRMA</a:t>
            </a:r>
            <a:endParaRPr b="0" lang="en-US" sz="980" spc="-1" strike="noStrike">
              <a:solidFill>
                <a:srgbClr val="000000"/>
              </a:solidFill>
              <a:latin typeface="Arial"/>
            </a:endParaRPr>
          </a:p>
        </p:txBody>
      </p:sp>
      <p:sp>
        <p:nvSpPr>
          <p:cNvPr id="101"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Publisher ve subscriber</a:t>
            </a:r>
            <a:endParaRPr b="0" lang="en-US" sz="2850" spc="-1" strike="noStrike">
              <a:solidFill>
                <a:srgbClr val="000000"/>
              </a:solidFill>
              <a:latin typeface="Arial"/>
            </a:endParaRPr>
          </a:p>
        </p:txBody>
      </p:sp>
      <p:sp>
        <p:nvSpPr>
          <p:cNvPr id="102"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03"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04"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07 / 16</a:t>
            </a:r>
            <a:endParaRPr b="0" lang="en-US" sz="900" spc="-1" strike="noStrike">
              <a:solidFill>
                <a:srgbClr val="000000"/>
              </a:solidFill>
              <a:latin typeface="Arial"/>
            </a:endParaRPr>
          </a:p>
        </p:txBody>
      </p:sp>
      <p:sp>
        <p:nvSpPr>
          <p:cNvPr id="105" name="Dikdörtgen 6"/>
          <p:cNvSpPr/>
          <p:nvPr/>
        </p:nvSpPr>
        <p:spPr>
          <a:xfrm>
            <a:off x="685800" y="1257480"/>
            <a:ext cx="1066752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00" spc="-1" strike="noStrike">
                <a:solidFill>
                  <a:srgbClr val="65798a"/>
                </a:solidFill>
                <a:latin typeface="Lato"/>
                <a:ea typeface="Lato"/>
              </a:rPr>
              <a:t>Bir node yayıncı, abone veya ikisi birden olabilir. Bu sözcükler iletişimdeki rolü anlatır.</a:t>
            </a:r>
            <a:endParaRPr b="0" lang="en-US" sz="1500" spc="-1" strike="noStrike">
              <a:solidFill>
                <a:srgbClr val="000000"/>
              </a:solidFill>
              <a:latin typeface="Arial"/>
            </a:endParaRPr>
          </a:p>
        </p:txBody>
      </p:sp>
      <p:sp>
        <p:nvSpPr>
          <p:cNvPr id="106" name="Dikdörtgen: Köşeleri Yuvarlatılmış 7"/>
          <p:cNvSpPr/>
          <p:nvPr/>
        </p:nvSpPr>
        <p:spPr>
          <a:xfrm>
            <a:off x="685800" y="2038320"/>
            <a:ext cx="5105160" cy="3600000"/>
          </a:xfrm>
          <a:prstGeom prst="roundRect">
            <a:avLst>
              <a:gd name="adj" fmla="val 4762"/>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07" name="Dikdörtgen 8"/>
          <p:cNvSpPr/>
          <p:nvPr/>
        </p:nvSpPr>
        <p:spPr>
          <a:xfrm>
            <a:off x="971640" y="2266920"/>
            <a:ext cx="4533480" cy="495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pc="-1" strike="noStrike">
                <a:solidFill>
                  <a:srgbClr val="132638"/>
                </a:solidFill>
                <a:latin typeface="Lato"/>
                <a:ea typeface="Lato"/>
              </a:rPr>
              <a:t>Publisher: yayıncı</a:t>
            </a:r>
            <a:endParaRPr b="0" lang="en-US" sz="2100" spc="-1" strike="noStrike">
              <a:solidFill>
                <a:srgbClr val="000000"/>
              </a:solidFill>
              <a:latin typeface="Arial"/>
            </a:endParaRPr>
          </a:p>
        </p:txBody>
      </p:sp>
      <p:sp>
        <p:nvSpPr>
          <p:cNvPr id="108" name="Dikdörtgen 9"/>
          <p:cNvSpPr/>
          <p:nvPr/>
        </p:nvSpPr>
        <p:spPr>
          <a:xfrm>
            <a:off x="933480" y="2933640"/>
            <a:ext cx="4533480" cy="22856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Bir topic üzerinde mesaj yayımlar.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Gönderdiği mesajın türünü belirler.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Kurulu demo_nodes_py talker, /chatter üzerinde String yayımlar.</a:t>
            </a:r>
            <a:endParaRPr b="0" lang="en-US" sz="1500" spc="-1" strike="noStrike">
              <a:solidFill>
                <a:srgbClr val="000000"/>
              </a:solidFill>
              <a:latin typeface="Arial"/>
            </a:endParaRPr>
          </a:p>
        </p:txBody>
      </p:sp>
      <p:sp>
        <p:nvSpPr>
          <p:cNvPr id="109" name="Dikdörtgen 10"/>
          <p:cNvSpPr/>
          <p:nvPr/>
        </p:nvSpPr>
        <p:spPr>
          <a:xfrm>
            <a:off x="971640" y="5219640"/>
            <a:ext cx="453348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050" spc="-1" strike="noStrike">
                <a:solidFill>
                  <a:srgbClr val="65798a"/>
                </a:solidFill>
                <a:latin typeface="Lato"/>
                <a:ea typeface="Lato"/>
              </a:rPr>
              <a:t>Veriyi gönderen taraf</a:t>
            </a:r>
            <a:endParaRPr b="0" lang="en-US" sz="1050" spc="-1" strike="noStrike">
              <a:solidFill>
                <a:srgbClr val="000000"/>
              </a:solidFill>
              <a:latin typeface="Arial"/>
            </a:endParaRPr>
          </a:p>
        </p:txBody>
      </p:sp>
      <p:sp>
        <p:nvSpPr>
          <p:cNvPr id="110" name="Dikdörtgen: Köşeleri Yuvarlatılmış 11"/>
          <p:cNvSpPr/>
          <p:nvPr/>
        </p:nvSpPr>
        <p:spPr>
          <a:xfrm>
            <a:off x="6248520" y="2038320"/>
            <a:ext cx="5105160" cy="3600000"/>
          </a:xfrm>
          <a:prstGeom prst="roundRect">
            <a:avLst>
              <a:gd name="adj" fmla="val 4762"/>
            </a:avLst>
          </a:prstGeom>
          <a:solidFill>
            <a:srgbClr val="f2f7f8"/>
          </a:solidFill>
          <a:ln w="19050">
            <a:solidFill>
              <a:srgbClr val="009b8e"/>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11" name="Dikdörtgen 12"/>
          <p:cNvSpPr/>
          <p:nvPr/>
        </p:nvSpPr>
        <p:spPr>
          <a:xfrm>
            <a:off x="6534000" y="2266920"/>
            <a:ext cx="4533480" cy="495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pc="-1" strike="noStrike">
                <a:solidFill>
                  <a:srgbClr val="009b8e"/>
                </a:solidFill>
                <a:latin typeface="Lato"/>
                <a:ea typeface="Lato"/>
              </a:rPr>
              <a:t>Subscriber: abone</a:t>
            </a:r>
            <a:endParaRPr b="0" lang="en-US" sz="2100" spc="-1" strike="noStrike">
              <a:solidFill>
                <a:srgbClr val="000000"/>
              </a:solidFill>
              <a:latin typeface="Arial"/>
            </a:endParaRPr>
          </a:p>
        </p:txBody>
      </p:sp>
      <p:sp>
        <p:nvSpPr>
          <p:cNvPr id="112" name="Dikdörtgen 13"/>
          <p:cNvSpPr/>
          <p:nvPr/>
        </p:nvSpPr>
        <p:spPr>
          <a:xfrm>
            <a:off x="6496200" y="2933640"/>
            <a:ext cx="4533480" cy="22856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Belirli bir topic üzerindeki mesajları alır.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Mesaj geldiğinde callback çalışır.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Kurulu listener, gelen metni terminale yazar.</a:t>
            </a:r>
            <a:endParaRPr b="0" lang="en-US" sz="1500" spc="-1" strike="noStrike">
              <a:solidFill>
                <a:srgbClr val="000000"/>
              </a:solidFill>
              <a:latin typeface="Arial"/>
            </a:endParaRPr>
          </a:p>
        </p:txBody>
      </p:sp>
      <p:sp>
        <p:nvSpPr>
          <p:cNvPr id="113" name="Dikdörtgen 14"/>
          <p:cNvSpPr/>
          <p:nvPr/>
        </p:nvSpPr>
        <p:spPr>
          <a:xfrm>
            <a:off x="6534000" y="5219640"/>
            <a:ext cx="453348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050" spc="-1" strike="noStrike">
                <a:solidFill>
                  <a:srgbClr val="009b8e"/>
                </a:solidFill>
                <a:latin typeface="Lato"/>
                <a:ea typeface="Lato"/>
              </a:rPr>
              <a:t>Veriyi alan taraf</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14" name="Dikdörtgen 11"/>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a typeface="Calibri"/>
            </a:endParaRPr>
          </a:p>
        </p:txBody>
      </p:sp>
      <p:sp>
        <p:nvSpPr>
          <p:cNvPr id="115"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CANLI DEMO</a:t>
            </a:r>
            <a:endParaRPr b="0" lang="en-US" sz="980" spc="-1" strike="noStrike">
              <a:solidFill>
                <a:srgbClr val="000000"/>
              </a:solidFill>
              <a:latin typeface="Arial"/>
            </a:endParaRPr>
          </a:p>
        </p:txBody>
      </p:sp>
      <p:sp>
        <p:nvSpPr>
          <p:cNvPr id="116"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Talker–listener gösterimi</a:t>
            </a:r>
            <a:endParaRPr b="0" lang="en-US" sz="2850" spc="-1" strike="noStrike">
              <a:solidFill>
                <a:srgbClr val="000000"/>
              </a:solidFill>
              <a:latin typeface="Arial"/>
            </a:endParaRPr>
          </a:p>
        </p:txBody>
      </p:sp>
      <p:sp>
        <p:nvSpPr>
          <p:cNvPr id="117"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18"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19"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12 / 16</a:t>
            </a:r>
            <a:endParaRPr b="0" lang="en-US" sz="900" spc="-1" strike="noStrike">
              <a:solidFill>
                <a:srgbClr val="000000"/>
              </a:solidFill>
              <a:latin typeface="Arial"/>
            </a:endParaRPr>
          </a:p>
        </p:txBody>
      </p:sp>
      <p:sp>
        <p:nvSpPr>
          <p:cNvPr id="120" name="Dikdörtgen: Köşeleri Yuvarlatılmış 7"/>
          <p:cNvSpPr/>
          <p:nvPr/>
        </p:nvSpPr>
        <p:spPr>
          <a:xfrm>
            <a:off x="2934000" y="1752840"/>
            <a:ext cx="6667200" cy="3733560"/>
          </a:xfrm>
          <a:prstGeom prst="roundRect">
            <a:avLst>
              <a:gd name="adj" fmla="val 4082"/>
            </a:avLst>
          </a:prstGeom>
          <a:solidFill>
            <a:srgbClr val="10263a"/>
          </a:solidFill>
          <a:ln w="0">
            <a:noFill/>
          </a:ln>
          <a:effectLst>
            <a:outerShdw blurRad="19080" dir="5400000" dist="9360">
              <a:srgbClr val="000000">
                <a:alpha val="6000"/>
              </a:srgbClr>
            </a:outerShdw>
          </a:effectLst>
        </p:spPr>
        <p:style>
          <a:lnRef idx="0"/>
          <a:fillRef idx="0"/>
          <a:effectRef idx="4"/>
          <a:fontRef idx="minor"/>
        </p:style>
        <p:txBody>
          <a:bodyPr lIns="228600" rIns="228600" tIns="228600" bIns="190440" anchor="t">
            <a:noAutofit/>
          </a:bodyPr>
          <a:p>
            <a:pPr defTabSz="914400">
              <a:lnSpc>
                <a:spcPct val="100000"/>
              </a:lnSpc>
            </a:pPr>
            <a:r>
              <a:rPr b="0" lang="en-US" sz="1200" spc="-1" strike="noStrike">
                <a:solidFill>
                  <a:srgbClr val="d7eef5"/>
                </a:solidFill>
                <a:latin typeface="DejaVu Sans Mono"/>
                <a:ea typeface="DejaVu Sans Mono"/>
              </a:rPr>
              <a:t># T1 / T2: kurulu ROS ortamı</a:t>
            </a:r>
            <a:endParaRPr b="0" lang="en-US" sz="1200" spc="-1" strike="noStrike">
              <a:solidFill>
                <a:srgbClr val="ffffff"/>
              </a:solidFill>
              <a:latin typeface="Arial"/>
            </a:endParaRPr>
          </a:p>
          <a:p>
            <a:pPr defTabSz="914400">
              <a:lnSpc>
                <a:spcPct val="100000"/>
              </a:lnSpc>
            </a:pPr>
            <a:r>
              <a:rPr b="0" lang="en-US" sz="1200" spc="-1" strike="noStrike">
                <a:solidFill>
                  <a:srgbClr val="d7eef5"/>
                </a:solidFill>
                <a:latin typeface="DejaVu Sans Mono"/>
                <a:ea typeface="DejaVu Sans Mono"/>
              </a:rPr>
              <a:t>source /opt/ros/jazzy/setup.bash</a:t>
            </a:r>
            <a:endParaRPr b="0" lang="en-US" sz="1200" spc="-1" strike="noStrike">
              <a:solidFill>
                <a:srgbClr val="ffffff"/>
              </a:solidFill>
              <a:latin typeface="Arial"/>
            </a:endParaRPr>
          </a:p>
          <a:p>
            <a:pPr defTabSz="914400">
              <a:lnSpc>
                <a:spcPct val="100000"/>
              </a:lnSpc>
            </a:pPr>
            <a:endParaRPr b="0" lang="en-US" sz="1200" spc="-1" strike="noStrike">
              <a:solidFill>
                <a:srgbClr val="ffffff"/>
              </a:solidFill>
              <a:latin typeface="Arial"/>
            </a:endParaRPr>
          </a:p>
          <a:p>
            <a:pPr defTabSz="914400">
              <a:lnSpc>
                <a:spcPct val="100000"/>
              </a:lnSpc>
            </a:pPr>
            <a:r>
              <a:rPr b="0" lang="en-US" sz="1200" spc="-1" strike="noStrike">
                <a:solidFill>
                  <a:srgbClr val="d7eef5"/>
                </a:solidFill>
                <a:latin typeface="DejaVu Sans Mono"/>
                <a:ea typeface="DejaVu Sans Mono"/>
              </a:rPr>
              <a:t># T1: yayıncı; T2: abone</a:t>
            </a:r>
            <a:endParaRPr b="0" lang="en-US" sz="1200" spc="-1" strike="noStrike">
              <a:solidFill>
                <a:srgbClr val="ffffff"/>
              </a:solidFill>
              <a:latin typeface="Arial"/>
            </a:endParaRPr>
          </a:p>
          <a:p>
            <a:pPr defTabSz="914400">
              <a:lnSpc>
                <a:spcPct val="100000"/>
              </a:lnSpc>
            </a:pPr>
            <a:r>
              <a:rPr b="0" lang="en-US" sz="1200" spc="-1" strike="noStrike">
                <a:solidFill>
                  <a:srgbClr val="d7eef5"/>
                </a:solidFill>
                <a:latin typeface="DejaVu Sans Mono"/>
                <a:ea typeface="DejaVu Sans Mono"/>
              </a:rPr>
              <a:t>ros2 run demo_nodes_py talker</a:t>
            </a:r>
            <a:endParaRPr b="0" lang="en-US" sz="1200" spc="-1" strike="noStrike">
              <a:solidFill>
                <a:srgbClr val="ffffff"/>
              </a:solidFill>
              <a:latin typeface="Arial"/>
            </a:endParaRPr>
          </a:p>
          <a:p>
            <a:pPr defTabSz="914400">
              <a:lnSpc>
                <a:spcPct val="100000"/>
              </a:lnSpc>
            </a:pPr>
            <a:r>
              <a:rPr b="0" lang="en-US" sz="1200" spc="-1" strike="noStrike">
                <a:solidFill>
                  <a:srgbClr val="d7eef5"/>
                </a:solidFill>
                <a:latin typeface="DejaVu Sans Mono"/>
                <a:ea typeface="DejaVu Sans Mono"/>
              </a:rPr>
              <a:t>ros2 run demo_nodes_py listener</a:t>
            </a:r>
            <a:endParaRPr b="0" lang="en-US" sz="1200" spc="-1" strike="noStrike">
              <a:solidFill>
                <a:srgbClr val="ffffff"/>
              </a:solidFill>
              <a:latin typeface="Arial"/>
            </a:endParaRPr>
          </a:p>
          <a:p>
            <a:pPr defTabSz="914400">
              <a:lnSpc>
                <a:spcPct val="100000"/>
              </a:lnSpc>
            </a:pPr>
            <a:endParaRPr b="0" lang="en-US" sz="1200" spc="-1" strike="noStrike">
              <a:solidFill>
                <a:srgbClr val="ffffff"/>
              </a:solidFill>
              <a:latin typeface="Arial"/>
            </a:endParaRPr>
          </a:p>
          <a:p>
            <a:pPr defTabSz="914400">
              <a:lnSpc>
                <a:spcPct val="100000"/>
              </a:lnSpc>
            </a:pPr>
            <a:r>
              <a:rPr b="0" lang="en-US" sz="1200" spc="-1" strike="noStrike">
                <a:solidFill>
                  <a:srgbClr val="d7eef5"/>
                </a:solidFill>
                <a:latin typeface="DejaVu Sans Mono"/>
                <a:ea typeface="DejaVu Sans Mono"/>
              </a:rPr>
              <a:t># Kaynak dizini; dosyalar topics/ altında</a:t>
            </a:r>
            <a:endParaRPr b="0" lang="en-US" sz="1200" spc="-1" strike="noStrike">
              <a:solidFill>
                <a:srgbClr val="ffffff"/>
              </a:solidFill>
              <a:latin typeface="Arial"/>
            </a:endParaRPr>
          </a:p>
          <a:p>
            <a:pPr defTabSz="914400">
              <a:lnSpc>
                <a:spcPct val="100000"/>
              </a:lnSpc>
            </a:pPr>
            <a:r>
              <a:rPr b="0" lang="en-US" sz="1200" spc="-1" strike="noStrike">
                <a:solidFill>
                  <a:srgbClr val="d7eef5"/>
                </a:solidFill>
                <a:latin typeface="DejaVu Sans Mono"/>
                <a:ea typeface="DejaVu Sans Mono"/>
              </a:rPr>
              <a:t>cd /opt/ros/jazzy/lib/python3.12/site-</a:t>
            </a:r>
            <a:r>
              <a:rPr b="0" lang="en-US" sz="1200" spc="-1" strike="noStrike">
                <a:solidFill>
                  <a:srgbClr val="d7eef5"/>
                </a:solidFill>
                <a:latin typeface="DejaVu Sans Mono"/>
                <a:ea typeface="DejaVu Sans Mono"/>
              </a:rPr>
              <a:t>packages/demo_nodes_py/</a:t>
            </a:r>
            <a:endParaRPr b="0" lang="en-US" sz="1200" spc="-1" strike="noStrike">
              <a:solidFill>
                <a:srgbClr val="ffffff"/>
              </a:solidFill>
              <a:latin typeface="Arial"/>
            </a:endParaRPr>
          </a:p>
          <a:p>
            <a:pPr defTabSz="914400">
              <a:lnSpc>
                <a:spcPct val="100000"/>
              </a:lnSpc>
            </a:pP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21" name="Dikdörtgen 13"/>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22"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KAVRAM</a:t>
            </a:r>
            <a:endParaRPr b="0" lang="en-US" sz="980" spc="-1" strike="noStrike">
              <a:solidFill>
                <a:srgbClr val="000000"/>
              </a:solidFill>
              <a:latin typeface="Arial"/>
            </a:endParaRPr>
          </a:p>
        </p:txBody>
      </p:sp>
      <p:sp>
        <p:nvSpPr>
          <p:cNvPr id="123"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Topic üzerinden haberleşme</a:t>
            </a:r>
            <a:endParaRPr b="0" lang="en-US" sz="2850" spc="-1" strike="noStrike">
              <a:solidFill>
                <a:srgbClr val="000000"/>
              </a:solidFill>
              <a:latin typeface="Arial"/>
            </a:endParaRPr>
          </a:p>
        </p:txBody>
      </p:sp>
      <p:sp>
        <p:nvSpPr>
          <p:cNvPr id="124"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25"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26"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08 / 16</a:t>
            </a:r>
            <a:endParaRPr b="0" lang="en-US" sz="900" spc="-1" strike="noStrike">
              <a:solidFill>
                <a:srgbClr val="000000"/>
              </a:solidFill>
              <a:latin typeface="Arial"/>
            </a:endParaRPr>
          </a:p>
        </p:txBody>
      </p:sp>
      <p:sp>
        <p:nvSpPr>
          <p:cNvPr id="127" name="Dikdörtgen 6"/>
          <p:cNvSpPr/>
          <p:nvPr/>
        </p:nvSpPr>
        <p:spPr>
          <a:xfrm>
            <a:off x="685800" y="1428840"/>
            <a:ext cx="4762080" cy="1123560"/>
          </a:xfrm>
          <a:prstGeom prst="rect">
            <a:avLst/>
          </a:prstGeom>
          <a:noFill/>
          <a:ln w="0">
            <a:noFill/>
          </a:ln>
        </p:spPr>
        <p:style>
          <a:lnRef idx="0"/>
          <a:fillRef idx="0"/>
          <a:effectRef idx="0"/>
          <a:fontRef idx="minor"/>
        </p:style>
        <p:txBody>
          <a:bodyPr lIns="0" rIns="133200" tIns="0" bIns="0" anchor="ctr">
            <a:noAutofit/>
          </a:bodyPr>
          <a:p>
            <a:pPr defTabSz="914400">
              <a:lnSpc>
                <a:spcPct val="100000"/>
              </a:lnSpc>
            </a:pPr>
            <a:r>
              <a:rPr b="1" lang="en-US" sz="2850" spc="-1" strike="noStrike">
                <a:solidFill>
                  <a:srgbClr val="009b8e"/>
                </a:solidFill>
                <a:latin typeface="Lato"/>
                <a:ea typeface="Lato"/>
              </a:rPr>
              <a:t>/chatter</a:t>
            </a:r>
            <a:endParaRPr b="0" lang="en-US" sz="2850" spc="-1" strike="noStrike">
              <a:solidFill>
                <a:srgbClr val="000000"/>
              </a:solidFill>
              <a:latin typeface="Arial"/>
            </a:endParaRPr>
          </a:p>
        </p:txBody>
      </p:sp>
      <p:sp>
        <p:nvSpPr>
          <p:cNvPr id="128" name="Dikdörtgen 7"/>
          <p:cNvSpPr/>
          <p:nvPr/>
        </p:nvSpPr>
        <p:spPr>
          <a:xfrm>
            <a:off x="685800" y="2781360"/>
            <a:ext cx="4809600" cy="1028520"/>
          </a:xfrm>
          <a:prstGeom prst="rect">
            <a:avLst/>
          </a:prstGeom>
          <a:noFill/>
          <a:ln w="0">
            <a:noFill/>
          </a:ln>
        </p:spPr>
        <p:style>
          <a:lnRef idx="0"/>
          <a:fillRef idx="0"/>
          <a:effectRef idx="0"/>
          <a:fontRef idx="minor"/>
        </p:style>
        <p:txBody>
          <a:bodyPr lIns="0" rIns="171360" tIns="0" bIns="0" anchor="t">
            <a:noAutofit/>
          </a:bodyPr>
          <a:p>
            <a:pPr defTabSz="914400">
              <a:lnSpc>
                <a:spcPct val="100000"/>
              </a:lnSpc>
            </a:pPr>
            <a:r>
              <a:rPr b="0" lang="en-US" sz="1650" spc="-1" strike="noStrike">
                <a:solidFill>
                  <a:srgbClr val="314659"/>
                </a:solidFill>
                <a:latin typeface="Lato"/>
                <a:ea typeface="Lato"/>
              </a:rPr>
              <a:t>Kurulu demo_nodes_py paketinin ortak mesaj türü std_msgs/msg/String; metin data alanında taşınır.</a:t>
            </a:r>
            <a:endParaRPr b="0" lang="en-US" sz="1650" spc="-1" strike="noStrike">
              <a:solidFill>
                <a:srgbClr val="000000"/>
              </a:solidFill>
              <a:latin typeface="Arial"/>
            </a:endParaRPr>
          </a:p>
        </p:txBody>
      </p:sp>
      <p:sp>
        <p:nvSpPr>
          <p:cNvPr id="129" name="Dikdörtgen 8"/>
          <p:cNvSpPr/>
          <p:nvPr/>
        </p:nvSpPr>
        <p:spPr>
          <a:xfrm>
            <a:off x="685800" y="4095720"/>
            <a:ext cx="4809600" cy="180936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Talker mesajı yayımlar, listener aynı topicten alır.</a:t>
            </a: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Bir topicte birden fazla yayıncı veya abone olabilir.</a:t>
            </a: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Topic, her mesaja bir işlem sonucu cevabı beklemez.</a:t>
            </a:r>
            <a:endParaRPr b="0" lang="en-US" sz="1430" spc="-1" strike="noStrike">
              <a:solidFill>
                <a:srgbClr val="000000"/>
              </a:solidFill>
              <a:latin typeface="Arial"/>
            </a:endParaRPr>
          </a:p>
        </p:txBody>
      </p:sp>
      <p:sp>
        <p:nvSpPr>
          <p:cNvPr id="130" name="Dikdörtgen: Köşeleri Yuvarlatılmış 9"/>
          <p:cNvSpPr/>
          <p:nvPr/>
        </p:nvSpPr>
        <p:spPr>
          <a:xfrm>
            <a:off x="6114960" y="1428840"/>
            <a:ext cx="5238360" cy="4476240"/>
          </a:xfrm>
          <a:prstGeom prst="roundRect">
            <a:avLst>
              <a:gd name="adj" fmla="val 3830"/>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31" name="Dikdörtgen 10"/>
          <p:cNvSpPr/>
          <p:nvPr/>
        </p:nvSpPr>
        <p:spPr>
          <a:xfrm>
            <a:off x="6438960" y="1733400"/>
            <a:ext cx="4190760" cy="24732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ÖRNEK ÜZERİNDEN</a:t>
            </a:r>
            <a:endParaRPr b="0" lang="en-US" sz="980" spc="-1" strike="noStrike">
              <a:solidFill>
                <a:srgbClr val="000000"/>
              </a:solidFill>
              <a:latin typeface="Arial"/>
            </a:endParaRPr>
          </a:p>
        </p:txBody>
      </p:sp>
      <p:sp>
        <p:nvSpPr>
          <p:cNvPr id="132" name="Dikdörtgen 11"/>
          <p:cNvSpPr/>
          <p:nvPr/>
        </p:nvSpPr>
        <p:spPr>
          <a:xfrm>
            <a:off x="6438960" y="2152800"/>
            <a:ext cx="4476240" cy="8377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320" spc="-1" strike="noStrike">
                <a:solidFill>
                  <a:srgbClr val="132638"/>
                </a:solidFill>
                <a:latin typeface="Lato"/>
                <a:ea typeface="Lato"/>
              </a:rPr>
              <a:t>Bağlantı için ortak sözleşme</a:t>
            </a:r>
            <a:endParaRPr b="0" lang="en-US" sz="2320" spc="-1" strike="noStrike">
              <a:solidFill>
                <a:srgbClr val="000000"/>
              </a:solidFill>
              <a:latin typeface="Arial"/>
            </a:endParaRPr>
          </a:p>
        </p:txBody>
      </p:sp>
      <p:sp>
        <p:nvSpPr>
          <p:cNvPr id="133" name="Dikdörtgen 12"/>
          <p:cNvSpPr/>
          <p:nvPr/>
        </p:nvSpPr>
        <p:spPr>
          <a:xfrm>
            <a:off x="6400800" y="3200400"/>
            <a:ext cx="4514400" cy="21902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Aynı çözümlenmiş topic adı</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Aynı mesaj türü</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Uyumlu iletişim ayarları (QoS)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34" name="Dikdörtgen 15"/>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35"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KARŞILAŞTIRMA</a:t>
            </a:r>
            <a:endParaRPr b="0" lang="en-US" sz="980" spc="-1" strike="noStrike">
              <a:solidFill>
                <a:srgbClr val="000000"/>
              </a:solidFill>
              <a:latin typeface="Arial"/>
            </a:endParaRPr>
          </a:p>
        </p:txBody>
      </p:sp>
      <p:sp>
        <p:nvSpPr>
          <p:cNvPr id="136"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Service: istek ve yanıt</a:t>
            </a:r>
            <a:endParaRPr b="0" lang="en-US" sz="2850" spc="-1" strike="noStrike">
              <a:solidFill>
                <a:srgbClr val="000000"/>
              </a:solidFill>
              <a:latin typeface="Arial"/>
            </a:endParaRPr>
          </a:p>
        </p:txBody>
      </p:sp>
      <p:sp>
        <p:nvSpPr>
          <p:cNvPr id="137"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38"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39"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09 / 16</a:t>
            </a:r>
            <a:endParaRPr b="0" lang="en-US" sz="900" spc="-1" strike="noStrike">
              <a:solidFill>
                <a:srgbClr val="000000"/>
              </a:solidFill>
              <a:latin typeface="Arial"/>
            </a:endParaRPr>
          </a:p>
        </p:txBody>
      </p:sp>
      <p:sp>
        <p:nvSpPr>
          <p:cNvPr id="140" name="Dikdörtgen 6"/>
          <p:cNvSpPr/>
          <p:nvPr/>
        </p:nvSpPr>
        <p:spPr>
          <a:xfrm>
            <a:off x="685800" y="1257480"/>
            <a:ext cx="1066752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00" spc="-1" strike="noStrike">
                <a:solidFill>
                  <a:srgbClr val="65798a"/>
                </a:solidFill>
                <a:latin typeface="Lato"/>
                <a:ea typeface="Lato"/>
              </a:rPr>
              <a:t>Kısa bir işlem talep ederiz ve o çağrıya karşılık bir yanıt alırız.</a:t>
            </a:r>
            <a:endParaRPr b="0" lang="en-US" sz="1500" spc="-1" strike="noStrike">
              <a:solidFill>
                <a:srgbClr val="000000"/>
              </a:solidFill>
              <a:latin typeface="Arial"/>
            </a:endParaRPr>
          </a:p>
        </p:txBody>
      </p:sp>
      <p:sp>
        <p:nvSpPr>
          <p:cNvPr id="141" name="Dikdörtgen: Köşeleri Yuvarlatılmış 7"/>
          <p:cNvSpPr/>
          <p:nvPr/>
        </p:nvSpPr>
        <p:spPr>
          <a:xfrm>
            <a:off x="685800" y="2038320"/>
            <a:ext cx="5105160" cy="3600000"/>
          </a:xfrm>
          <a:prstGeom prst="roundRect">
            <a:avLst>
              <a:gd name="adj" fmla="val 4762"/>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42" name="Dikdörtgen 8"/>
          <p:cNvSpPr/>
          <p:nvPr/>
        </p:nvSpPr>
        <p:spPr>
          <a:xfrm>
            <a:off x="971640" y="2266920"/>
            <a:ext cx="4533480" cy="495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pc="-1" strike="noStrike">
                <a:solidFill>
                  <a:srgbClr val="132638"/>
                </a:solidFill>
                <a:latin typeface="Lato"/>
                <a:ea typeface="Lato"/>
              </a:rPr>
              <a:t>Client: istemci</a:t>
            </a:r>
            <a:endParaRPr b="0" lang="en-US" sz="2100" spc="-1" strike="noStrike">
              <a:solidFill>
                <a:srgbClr val="000000"/>
              </a:solidFill>
              <a:latin typeface="Arial"/>
            </a:endParaRPr>
          </a:p>
        </p:txBody>
      </p:sp>
      <p:sp>
        <p:nvSpPr>
          <p:cNvPr id="143" name="Dikdörtgen 9"/>
          <p:cNvSpPr/>
          <p:nvPr/>
        </p:nvSpPr>
        <p:spPr>
          <a:xfrm>
            <a:off x="933480" y="2933640"/>
            <a:ext cx="4533480" cy="22856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İsteği sunucuya gönderir.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Örnek istek: davranışı etkinleştir.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İlgili çağrının yanıtını alır.</a:t>
            </a:r>
            <a:endParaRPr b="0" lang="en-US" sz="1500" spc="-1" strike="noStrike">
              <a:solidFill>
                <a:srgbClr val="000000"/>
              </a:solidFill>
              <a:latin typeface="Arial"/>
            </a:endParaRPr>
          </a:p>
        </p:txBody>
      </p:sp>
      <p:sp>
        <p:nvSpPr>
          <p:cNvPr id="144" name="Dikdörtgen 10"/>
          <p:cNvSpPr/>
          <p:nvPr/>
        </p:nvSpPr>
        <p:spPr>
          <a:xfrm>
            <a:off x="971640" y="5219640"/>
            <a:ext cx="453348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050" spc="-1" strike="noStrike">
                <a:solidFill>
                  <a:srgbClr val="65798a"/>
                </a:solidFill>
                <a:latin typeface="Lato"/>
                <a:ea typeface="Lato"/>
              </a:rPr>
              <a:t>Request: data = true</a:t>
            </a:r>
            <a:endParaRPr b="0" lang="en-US" sz="1050" spc="-1" strike="noStrike">
              <a:solidFill>
                <a:srgbClr val="000000"/>
              </a:solidFill>
              <a:latin typeface="Arial"/>
            </a:endParaRPr>
          </a:p>
        </p:txBody>
      </p:sp>
      <p:sp>
        <p:nvSpPr>
          <p:cNvPr id="145" name="Dikdörtgen: Köşeleri Yuvarlatılmış 11"/>
          <p:cNvSpPr/>
          <p:nvPr/>
        </p:nvSpPr>
        <p:spPr>
          <a:xfrm>
            <a:off x="6248520" y="2038320"/>
            <a:ext cx="5105160" cy="3600000"/>
          </a:xfrm>
          <a:prstGeom prst="roundRect">
            <a:avLst>
              <a:gd name="adj" fmla="val 4762"/>
            </a:avLst>
          </a:prstGeom>
          <a:solidFill>
            <a:srgbClr val="f2f7f8"/>
          </a:solidFill>
          <a:ln w="19050">
            <a:solidFill>
              <a:srgbClr val="009b8e"/>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46" name="Dikdörtgen 12"/>
          <p:cNvSpPr/>
          <p:nvPr/>
        </p:nvSpPr>
        <p:spPr>
          <a:xfrm>
            <a:off x="6534000" y="2266920"/>
            <a:ext cx="4533480" cy="495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pc="-1" strike="noStrike">
                <a:solidFill>
                  <a:srgbClr val="009b8e"/>
                </a:solidFill>
                <a:latin typeface="Lato"/>
                <a:ea typeface="Lato"/>
              </a:rPr>
              <a:t>Server: sunucu</a:t>
            </a:r>
            <a:endParaRPr b="0" lang="en-US" sz="2100" spc="-1" strike="noStrike">
              <a:solidFill>
                <a:srgbClr val="000000"/>
              </a:solidFill>
              <a:latin typeface="Arial"/>
            </a:endParaRPr>
          </a:p>
        </p:txBody>
      </p:sp>
      <p:sp>
        <p:nvSpPr>
          <p:cNvPr id="147" name="Dikdörtgen 13"/>
          <p:cNvSpPr/>
          <p:nvPr/>
        </p:nvSpPr>
        <p:spPr>
          <a:xfrm>
            <a:off x="6496200" y="2933640"/>
            <a:ext cx="4533480" cy="22856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İsteği işler.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Örnekte davranışın açık/kapalı ayarını değiştirir.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Başarı durumunu ve açıklamayı döndürür.</a:t>
            </a:r>
            <a:endParaRPr b="0" lang="en-US" sz="1500" spc="-1" strike="noStrike">
              <a:solidFill>
                <a:srgbClr val="000000"/>
              </a:solidFill>
              <a:latin typeface="Arial"/>
            </a:endParaRPr>
          </a:p>
        </p:txBody>
      </p:sp>
      <p:sp>
        <p:nvSpPr>
          <p:cNvPr id="148" name="Dikdörtgen 14"/>
          <p:cNvSpPr/>
          <p:nvPr/>
        </p:nvSpPr>
        <p:spPr>
          <a:xfrm>
            <a:off x="6534000" y="5219640"/>
            <a:ext cx="4533480" cy="266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050" spc="-1" strike="noStrike">
                <a:solidFill>
                  <a:srgbClr val="009b8e"/>
                </a:solidFill>
                <a:latin typeface="Lato"/>
                <a:ea typeface="Lato"/>
              </a:rPr>
              <a:t>Response: success, message</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49" name="Dikdörtgen 13"/>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50"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KAVRAM</a:t>
            </a:r>
            <a:endParaRPr b="0" lang="en-US" sz="980" spc="-1" strike="noStrike">
              <a:solidFill>
                <a:srgbClr val="000000"/>
              </a:solidFill>
              <a:latin typeface="Arial"/>
            </a:endParaRPr>
          </a:p>
        </p:txBody>
      </p:sp>
      <p:sp>
        <p:nvSpPr>
          <p:cNvPr id="151"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Action: hedef, ilerleme ve sonuç</a:t>
            </a:r>
            <a:endParaRPr b="0" lang="en-US" sz="2850" spc="-1" strike="noStrike">
              <a:solidFill>
                <a:srgbClr val="000000"/>
              </a:solidFill>
              <a:latin typeface="Arial"/>
            </a:endParaRPr>
          </a:p>
        </p:txBody>
      </p:sp>
      <p:sp>
        <p:nvSpPr>
          <p:cNvPr id="152"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53"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54"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10 / 16</a:t>
            </a:r>
            <a:endParaRPr b="0" lang="en-US" sz="900" spc="-1" strike="noStrike">
              <a:solidFill>
                <a:srgbClr val="000000"/>
              </a:solidFill>
              <a:latin typeface="Arial"/>
            </a:endParaRPr>
          </a:p>
        </p:txBody>
      </p:sp>
      <p:sp>
        <p:nvSpPr>
          <p:cNvPr id="155" name="Dikdörtgen 6"/>
          <p:cNvSpPr/>
          <p:nvPr/>
        </p:nvSpPr>
        <p:spPr>
          <a:xfrm>
            <a:off x="685800" y="1428840"/>
            <a:ext cx="4762080" cy="1123560"/>
          </a:xfrm>
          <a:prstGeom prst="rect">
            <a:avLst/>
          </a:prstGeom>
          <a:noFill/>
          <a:ln w="0">
            <a:noFill/>
          </a:ln>
        </p:spPr>
        <p:style>
          <a:lnRef idx="0"/>
          <a:fillRef idx="0"/>
          <a:effectRef idx="0"/>
          <a:fontRef idx="minor"/>
        </p:style>
        <p:txBody>
          <a:bodyPr lIns="0" rIns="133200" tIns="0" bIns="0" anchor="ctr">
            <a:noAutofit/>
          </a:bodyPr>
          <a:p>
            <a:pPr defTabSz="914400">
              <a:lnSpc>
                <a:spcPct val="100000"/>
              </a:lnSpc>
            </a:pPr>
            <a:r>
              <a:rPr b="1" lang="en-US" sz="2850" spc="-1" strike="noStrike">
                <a:solidFill>
                  <a:srgbClr val="009b8e"/>
                </a:solidFill>
                <a:latin typeface="Lato"/>
                <a:ea typeface="Lato"/>
              </a:rPr>
              <a:t>“</a:t>
            </a:r>
            <a:r>
              <a:rPr b="1" lang="en-US" sz="2850" spc="-1" strike="noStrike">
                <a:solidFill>
                  <a:srgbClr val="009b8e"/>
                </a:solidFill>
                <a:latin typeface="Lato"/>
                <a:ea typeface="Lato"/>
              </a:rPr>
              <a:t>A noktasına git”</a:t>
            </a:r>
            <a:endParaRPr b="0" lang="en-US" sz="2850" spc="-1" strike="noStrike">
              <a:solidFill>
                <a:srgbClr val="000000"/>
              </a:solidFill>
              <a:latin typeface="Arial"/>
            </a:endParaRPr>
          </a:p>
        </p:txBody>
      </p:sp>
      <p:sp>
        <p:nvSpPr>
          <p:cNvPr id="156" name="Dikdörtgen 7"/>
          <p:cNvSpPr/>
          <p:nvPr/>
        </p:nvSpPr>
        <p:spPr>
          <a:xfrm>
            <a:off x="685800" y="2781360"/>
            <a:ext cx="4809600" cy="1028520"/>
          </a:xfrm>
          <a:prstGeom prst="rect">
            <a:avLst/>
          </a:prstGeom>
          <a:noFill/>
          <a:ln w="0">
            <a:noFill/>
          </a:ln>
        </p:spPr>
        <p:style>
          <a:lnRef idx="0"/>
          <a:fillRef idx="0"/>
          <a:effectRef idx="0"/>
          <a:fontRef idx="minor"/>
        </p:style>
        <p:txBody>
          <a:bodyPr lIns="0" rIns="171360" tIns="0" bIns="0" anchor="t">
            <a:noAutofit/>
          </a:bodyPr>
          <a:p>
            <a:pPr defTabSz="914400">
              <a:lnSpc>
                <a:spcPct val="100000"/>
              </a:lnSpc>
            </a:pPr>
            <a:r>
              <a:rPr b="0" lang="en-US" sz="1650" spc="-1" strike="noStrike">
                <a:solidFill>
                  <a:srgbClr val="314659"/>
                </a:solidFill>
                <a:latin typeface="Lato"/>
                <a:ea typeface="Lato"/>
              </a:rPr>
              <a:t>Uzun sürebilen bir görevde yalnız başlangıç yanıtı yetmez. Görevin ilerleyişini de izleriz. </a:t>
            </a:r>
            <a:endParaRPr b="0" lang="en-US" sz="1650" spc="-1" strike="noStrike">
              <a:solidFill>
                <a:srgbClr val="000000"/>
              </a:solidFill>
              <a:latin typeface="Arial"/>
            </a:endParaRPr>
          </a:p>
        </p:txBody>
      </p:sp>
      <p:sp>
        <p:nvSpPr>
          <p:cNvPr id="157" name="Dikdörtgen 8"/>
          <p:cNvSpPr/>
          <p:nvPr/>
        </p:nvSpPr>
        <p:spPr>
          <a:xfrm>
            <a:off x="685800" y="4095720"/>
            <a:ext cx="4809600" cy="180936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İstemci bir hedef gönderir, sunucu kabul eder veya reddeder.</a:t>
            </a: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Görev sırasında feedback, bitince result gelir.</a:t>
            </a: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İstemci iptal isteği gönderebilir.</a:t>
            </a:r>
            <a:endParaRPr b="0" lang="en-US" sz="1430" spc="-1" strike="noStrike">
              <a:solidFill>
                <a:srgbClr val="000000"/>
              </a:solidFill>
              <a:latin typeface="Arial"/>
            </a:endParaRPr>
          </a:p>
        </p:txBody>
      </p:sp>
      <p:sp>
        <p:nvSpPr>
          <p:cNvPr id="158" name="Dikdörtgen: Köşeleri Yuvarlatılmış 9"/>
          <p:cNvSpPr/>
          <p:nvPr/>
        </p:nvSpPr>
        <p:spPr>
          <a:xfrm>
            <a:off x="6114960" y="1428840"/>
            <a:ext cx="5238360" cy="4476240"/>
          </a:xfrm>
          <a:prstGeom prst="roundRect">
            <a:avLst>
              <a:gd name="adj" fmla="val 3830"/>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59" name="Dikdörtgen 10"/>
          <p:cNvSpPr/>
          <p:nvPr/>
        </p:nvSpPr>
        <p:spPr>
          <a:xfrm>
            <a:off x="6438960" y="1733400"/>
            <a:ext cx="4190760" cy="24732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ÖRNEK ÜZERİNDEN</a:t>
            </a:r>
            <a:endParaRPr b="0" lang="en-US" sz="980" spc="-1" strike="noStrike">
              <a:solidFill>
                <a:srgbClr val="000000"/>
              </a:solidFill>
              <a:latin typeface="Arial"/>
            </a:endParaRPr>
          </a:p>
        </p:txBody>
      </p:sp>
      <p:sp>
        <p:nvSpPr>
          <p:cNvPr id="160" name="Dikdörtgen 11"/>
          <p:cNvSpPr/>
          <p:nvPr/>
        </p:nvSpPr>
        <p:spPr>
          <a:xfrm>
            <a:off x="6438960" y="2152800"/>
            <a:ext cx="4476240" cy="8377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320" spc="-1" strike="noStrike">
                <a:solidFill>
                  <a:srgbClr val="132638"/>
                </a:solidFill>
                <a:latin typeface="Lato"/>
                <a:ea typeface="Lato"/>
              </a:rPr>
              <a:t>Nav2 ile 4. haftada</a:t>
            </a:r>
            <a:endParaRPr b="0" lang="en-US" sz="2320" spc="-1" strike="noStrike">
              <a:solidFill>
                <a:srgbClr val="000000"/>
              </a:solidFill>
              <a:latin typeface="Arial"/>
            </a:endParaRPr>
          </a:p>
        </p:txBody>
      </p:sp>
      <p:sp>
        <p:nvSpPr>
          <p:cNvPr id="161" name="Dikdörtgen 12"/>
          <p:cNvSpPr/>
          <p:nvPr/>
        </p:nvSpPr>
        <p:spPr>
          <a:xfrm>
            <a:off x="6400800" y="3200400"/>
            <a:ext cx="4514400" cy="21902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Goal: hedef konum</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Feedback: kalan mesafe gibi bilgiler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Result: başarı, hata veya iptal</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62" name="Dikdörtgen 20"/>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63"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DERSİN ROTASI</a:t>
            </a:r>
            <a:endParaRPr b="0" lang="en-US" sz="980" spc="-1" strike="noStrike">
              <a:solidFill>
                <a:srgbClr val="000000"/>
              </a:solidFill>
              <a:latin typeface="Arial"/>
            </a:endParaRPr>
          </a:p>
        </p:txBody>
      </p:sp>
      <p:sp>
        <p:nvSpPr>
          <p:cNvPr id="164"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Hangi iletişim biçimi?</a:t>
            </a:r>
            <a:endParaRPr b="0" lang="en-US" sz="2850" spc="-1" strike="noStrike">
              <a:solidFill>
                <a:srgbClr val="000000"/>
              </a:solidFill>
              <a:latin typeface="Arial"/>
            </a:endParaRPr>
          </a:p>
        </p:txBody>
      </p:sp>
      <p:sp>
        <p:nvSpPr>
          <p:cNvPr id="165"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66"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67"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11 / 16</a:t>
            </a:r>
            <a:endParaRPr b="0" lang="en-US" sz="900" spc="-1" strike="noStrike">
              <a:solidFill>
                <a:srgbClr val="000000"/>
              </a:solidFill>
              <a:latin typeface="Arial"/>
            </a:endParaRPr>
          </a:p>
        </p:txBody>
      </p:sp>
      <p:sp>
        <p:nvSpPr>
          <p:cNvPr id="168" name="Dikdörtgen 6"/>
          <p:cNvSpPr/>
          <p:nvPr/>
        </p:nvSpPr>
        <p:spPr>
          <a:xfrm>
            <a:off x="685800" y="1257480"/>
            <a:ext cx="1066752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80" spc="-1" strike="noStrike">
                <a:solidFill>
                  <a:srgbClr val="65798a"/>
                </a:solidFill>
                <a:latin typeface="Lato"/>
                <a:ea typeface="Lato"/>
              </a:rPr>
              <a:t>Seçimi gönderilecek veriye ve beklenen karşılığa göre yaparız.</a:t>
            </a:r>
            <a:endParaRPr b="0" lang="en-US" sz="1580" spc="-1" strike="noStrike">
              <a:solidFill>
                <a:srgbClr val="000000"/>
              </a:solidFill>
              <a:latin typeface="Arial"/>
            </a:endParaRPr>
          </a:p>
        </p:txBody>
      </p:sp>
      <p:sp>
        <p:nvSpPr>
          <p:cNvPr id="169" name="Dikdörtgen 7"/>
          <p:cNvSpPr/>
          <p:nvPr/>
        </p:nvSpPr>
        <p:spPr>
          <a:xfrm>
            <a:off x="685800" y="2076480"/>
            <a:ext cx="344124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550" spc="-1" strike="noStrike">
                <a:solidFill>
                  <a:srgbClr val="009b8e"/>
                </a:solidFill>
                <a:latin typeface="Lato"/>
                <a:ea typeface="Lato"/>
              </a:rPr>
              <a:t>01</a:t>
            </a:r>
            <a:endParaRPr b="0" lang="en-US" sz="2550" spc="-1" strike="noStrike">
              <a:solidFill>
                <a:srgbClr val="000000"/>
              </a:solidFill>
              <a:latin typeface="Arial"/>
            </a:endParaRPr>
          </a:p>
        </p:txBody>
      </p:sp>
      <p:sp>
        <p:nvSpPr>
          <p:cNvPr id="170" name="Düz Bağlayıcı 8"/>
          <p:cNvSpPr/>
          <p:nvPr/>
        </p:nvSpPr>
        <p:spPr>
          <a:xfrm>
            <a:off x="685800" y="2695320"/>
            <a:ext cx="3441600" cy="360"/>
          </a:xfrm>
          <a:prstGeom prst="line">
            <a:avLst/>
          </a:prstGeom>
          <a:ln w="28575">
            <a:solidFill>
              <a:srgbClr val="009b8e"/>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71" name="Dikdörtgen 9"/>
          <p:cNvSpPr/>
          <p:nvPr/>
        </p:nvSpPr>
        <p:spPr>
          <a:xfrm>
            <a:off x="685800" y="2895480"/>
            <a:ext cx="3441240" cy="704520"/>
          </a:xfrm>
          <a:prstGeom prst="rect">
            <a:avLst/>
          </a:prstGeom>
          <a:noFill/>
          <a:ln w="0">
            <a:noFill/>
          </a:ln>
        </p:spPr>
        <p:style>
          <a:lnRef idx="0"/>
          <a:fillRef idx="0"/>
          <a:effectRef idx="0"/>
          <a:fontRef idx="minor"/>
        </p:style>
        <p:txBody>
          <a:bodyPr lIns="0" rIns="38160" tIns="0" bIns="0" anchor="t">
            <a:noAutofit/>
          </a:bodyPr>
          <a:p>
            <a:pPr defTabSz="914400">
              <a:lnSpc>
                <a:spcPct val="100000"/>
              </a:lnSpc>
            </a:pPr>
            <a:r>
              <a:rPr b="1" lang="en-US" sz="1800" spc="-1" strike="noStrike">
                <a:solidFill>
                  <a:srgbClr val="132638"/>
                </a:solidFill>
                <a:latin typeface="Lato"/>
                <a:ea typeface="Lato"/>
              </a:rPr>
              <a:t>Topic</a:t>
            </a:r>
            <a:endParaRPr b="0" lang="en-US" sz="1800" spc="-1" strike="noStrike">
              <a:solidFill>
                <a:srgbClr val="000000"/>
              </a:solidFill>
              <a:latin typeface="Arial"/>
            </a:endParaRPr>
          </a:p>
        </p:txBody>
      </p:sp>
      <p:sp>
        <p:nvSpPr>
          <p:cNvPr id="172" name="Dikdörtgen 10"/>
          <p:cNvSpPr/>
          <p:nvPr/>
        </p:nvSpPr>
        <p:spPr>
          <a:xfrm>
            <a:off x="685800" y="3753000"/>
            <a:ext cx="3441240" cy="1561680"/>
          </a:xfrm>
          <a:prstGeom prst="rect">
            <a:avLst/>
          </a:prstGeom>
          <a:noFill/>
          <a:ln w="0">
            <a:noFill/>
          </a:ln>
        </p:spPr>
        <p:style>
          <a:lnRef idx="0"/>
          <a:fillRef idx="0"/>
          <a:effectRef idx="0"/>
          <a:fontRef idx="minor"/>
        </p:style>
        <p:txBody>
          <a:bodyPr lIns="0" rIns="57240" tIns="0" bIns="0" anchor="t">
            <a:noAutofit/>
          </a:bodyPr>
          <a:p>
            <a:pPr defTabSz="914400">
              <a:lnSpc>
                <a:spcPct val="100000"/>
              </a:lnSpc>
            </a:pPr>
            <a:r>
              <a:rPr b="0" lang="en-US" sz="1350" spc="-1" strike="noStrike">
                <a:solidFill>
                  <a:srgbClr val="314659"/>
                </a:solidFill>
                <a:latin typeface="Lato"/>
                <a:ea typeface="Lato"/>
              </a:rPr>
              <a:t>LiDAR ölçümleri veya hız komutları: mesaj akışı.</a:t>
            </a:r>
            <a:endParaRPr b="0" lang="en-US" sz="1350" spc="-1" strike="noStrike">
              <a:solidFill>
                <a:srgbClr val="000000"/>
              </a:solidFill>
              <a:latin typeface="Arial"/>
            </a:endParaRPr>
          </a:p>
        </p:txBody>
      </p:sp>
      <p:sp>
        <p:nvSpPr>
          <p:cNvPr id="173" name="Dikdörtgen 11"/>
          <p:cNvSpPr/>
          <p:nvPr/>
        </p:nvSpPr>
        <p:spPr>
          <a:xfrm>
            <a:off x="4299120" y="2076480"/>
            <a:ext cx="344124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550" spc="-1" strike="noStrike">
                <a:solidFill>
                  <a:srgbClr val="009b8e"/>
                </a:solidFill>
                <a:latin typeface="Lato"/>
                <a:ea typeface="Lato"/>
              </a:rPr>
              <a:t>02</a:t>
            </a:r>
            <a:endParaRPr b="0" lang="en-US" sz="2550" spc="-1" strike="noStrike">
              <a:solidFill>
                <a:srgbClr val="000000"/>
              </a:solidFill>
              <a:latin typeface="Arial"/>
            </a:endParaRPr>
          </a:p>
        </p:txBody>
      </p:sp>
      <p:sp>
        <p:nvSpPr>
          <p:cNvPr id="174" name="Düz Bağlayıcı 12"/>
          <p:cNvSpPr/>
          <p:nvPr/>
        </p:nvSpPr>
        <p:spPr>
          <a:xfrm>
            <a:off x="4298760" y="2695320"/>
            <a:ext cx="3441600" cy="360"/>
          </a:xfrm>
          <a:prstGeom prst="line">
            <a:avLst/>
          </a:prstGeom>
          <a:ln w="2857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75" name="Dikdörtgen 13"/>
          <p:cNvSpPr/>
          <p:nvPr/>
        </p:nvSpPr>
        <p:spPr>
          <a:xfrm>
            <a:off x="4299120" y="2895480"/>
            <a:ext cx="3441240" cy="704520"/>
          </a:xfrm>
          <a:prstGeom prst="rect">
            <a:avLst/>
          </a:prstGeom>
          <a:noFill/>
          <a:ln w="0">
            <a:noFill/>
          </a:ln>
        </p:spPr>
        <p:style>
          <a:lnRef idx="0"/>
          <a:fillRef idx="0"/>
          <a:effectRef idx="0"/>
          <a:fontRef idx="minor"/>
        </p:style>
        <p:txBody>
          <a:bodyPr lIns="0" rIns="38160" tIns="0" bIns="0" anchor="t">
            <a:noAutofit/>
          </a:bodyPr>
          <a:p>
            <a:pPr defTabSz="914400">
              <a:lnSpc>
                <a:spcPct val="100000"/>
              </a:lnSpc>
            </a:pPr>
            <a:r>
              <a:rPr b="1" lang="en-US" sz="1800" spc="-1" strike="noStrike">
                <a:solidFill>
                  <a:srgbClr val="132638"/>
                </a:solidFill>
                <a:latin typeface="Lato"/>
                <a:ea typeface="Lato"/>
              </a:rPr>
              <a:t>Service</a:t>
            </a:r>
            <a:endParaRPr b="0" lang="en-US" sz="1800" spc="-1" strike="noStrike">
              <a:solidFill>
                <a:srgbClr val="000000"/>
              </a:solidFill>
              <a:latin typeface="Arial"/>
            </a:endParaRPr>
          </a:p>
        </p:txBody>
      </p:sp>
      <p:sp>
        <p:nvSpPr>
          <p:cNvPr id="176" name="Dikdörtgen 14"/>
          <p:cNvSpPr/>
          <p:nvPr/>
        </p:nvSpPr>
        <p:spPr>
          <a:xfrm>
            <a:off x="4299120" y="3753000"/>
            <a:ext cx="3441240" cy="1561680"/>
          </a:xfrm>
          <a:prstGeom prst="rect">
            <a:avLst/>
          </a:prstGeom>
          <a:noFill/>
          <a:ln w="0">
            <a:noFill/>
          </a:ln>
        </p:spPr>
        <p:style>
          <a:lnRef idx="0"/>
          <a:fillRef idx="0"/>
          <a:effectRef idx="0"/>
          <a:fontRef idx="minor"/>
        </p:style>
        <p:txBody>
          <a:bodyPr lIns="0" rIns="57240" tIns="0" bIns="0" anchor="t">
            <a:noAutofit/>
          </a:bodyPr>
          <a:p>
            <a:pPr defTabSz="914400">
              <a:lnSpc>
                <a:spcPct val="100000"/>
              </a:lnSpc>
            </a:pPr>
            <a:r>
              <a:rPr b="0" lang="en-US" sz="1350" spc="-1" strike="noStrike">
                <a:solidFill>
                  <a:srgbClr val="314659"/>
                </a:solidFill>
                <a:latin typeface="Lato"/>
                <a:ea typeface="Lato"/>
              </a:rPr>
              <a:t>Davranışı aç/kapat: bir istek ve ilgili yanıt.</a:t>
            </a:r>
            <a:endParaRPr b="0" lang="en-US" sz="1350" spc="-1" strike="noStrike">
              <a:solidFill>
                <a:srgbClr val="000000"/>
              </a:solidFill>
              <a:latin typeface="Arial"/>
            </a:endParaRPr>
          </a:p>
        </p:txBody>
      </p:sp>
      <p:sp>
        <p:nvSpPr>
          <p:cNvPr id="177" name="Dikdörtgen 15"/>
          <p:cNvSpPr/>
          <p:nvPr/>
        </p:nvSpPr>
        <p:spPr>
          <a:xfrm>
            <a:off x="7912080" y="2076480"/>
            <a:ext cx="3441240" cy="5140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550" spc="-1" strike="noStrike">
                <a:solidFill>
                  <a:srgbClr val="009b8e"/>
                </a:solidFill>
                <a:latin typeface="Lato"/>
                <a:ea typeface="Lato"/>
              </a:rPr>
              <a:t>03</a:t>
            </a:r>
            <a:endParaRPr b="0" lang="en-US" sz="2550" spc="-1" strike="noStrike">
              <a:solidFill>
                <a:srgbClr val="000000"/>
              </a:solidFill>
              <a:latin typeface="Arial"/>
            </a:endParaRPr>
          </a:p>
        </p:txBody>
      </p:sp>
      <p:sp>
        <p:nvSpPr>
          <p:cNvPr id="178" name="Düz Bağlayıcı 16"/>
          <p:cNvSpPr/>
          <p:nvPr/>
        </p:nvSpPr>
        <p:spPr>
          <a:xfrm>
            <a:off x="7912080" y="2695320"/>
            <a:ext cx="3441600" cy="360"/>
          </a:xfrm>
          <a:prstGeom prst="line">
            <a:avLst/>
          </a:prstGeom>
          <a:ln w="2857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79" name="Dikdörtgen 17"/>
          <p:cNvSpPr/>
          <p:nvPr/>
        </p:nvSpPr>
        <p:spPr>
          <a:xfrm>
            <a:off x="7912080" y="2895480"/>
            <a:ext cx="3441240" cy="704520"/>
          </a:xfrm>
          <a:prstGeom prst="rect">
            <a:avLst/>
          </a:prstGeom>
          <a:noFill/>
          <a:ln w="0">
            <a:noFill/>
          </a:ln>
        </p:spPr>
        <p:style>
          <a:lnRef idx="0"/>
          <a:fillRef idx="0"/>
          <a:effectRef idx="0"/>
          <a:fontRef idx="minor"/>
        </p:style>
        <p:txBody>
          <a:bodyPr lIns="0" rIns="38160" tIns="0" bIns="0" anchor="t">
            <a:noAutofit/>
          </a:bodyPr>
          <a:p>
            <a:pPr defTabSz="914400">
              <a:lnSpc>
                <a:spcPct val="100000"/>
              </a:lnSpc>
            </a:pPr>
            <a:r>
              <a:rPr b="1" lang="en-US" sz="1800" spc="-1" strike="noStrike">
                <a:solidFill>
                  <a:srgbClr val="132638"/>
                </a:solidFill>
                <a:latin typeface="Lato"/>
                <a:ea typeface="Lato"/>
              </a:rPr>
              <a:t>Action</a:t>
            </a:r>
            <a:endParaRPr b="0" lang="en-US" sz="1800" spc="-1" strike="noStrike">
              <a:solidFill>
                <a:srgbClr val="000000"/>
              </a:solidFill>
              <a:latin typeface="Arial"/>
            </a:endParaRPr>
          </a:p>
        </p:txBody>
      </p:sp>
      <p:sp>
        <p:nvSpPr>
          <p:cNvPr id="180" name="Dikdörtgen 18"/>
          <p:cNvSpPr/>
          <p:nvPr/>
        </p:nvSpPr>
        <p:spPr>
          <a:xfrm>
            <a:off x="7912080" y="3753000"/>
            <a:ext cx="3441240" cy="1561680"/>
          </a:xfrm>
          <a:prstGeom prst="rect">
            <a:avLst/>
          </a:prstGeom>
          <a:noFill/>
          <a:ln w="0">
            <a:noFill/>
          </a:ln>
        </p:spPr>
        <p:style>
          <a:lnRef idx="0"/>
          <a:fillRef idx="0"/>
          <a:effectRef idx="0"/>
          <a:fontRef idx="minor"/>
        </p:style>
        <p:txBody>
          <a:bodyPr lIns="0" rIns="57240" tIns="0" bIns="0" anchor="t">
            <a:noAutofit/>
          </a:bodyPr>
          <a:p>
            <a:pPr defTabSz="914400">
              <a:lnSpc>
                <a:spcPct val="100000"/>
              </a:lnSpc>
            </a:pPr>
            <a:r>
              <a:rPr b="0" lang="en-US" sz="1350" spc="-1" strike="noStrike">
                <a:solidFill>
                  <a:srgbClr val="314659"/>
                </a:solidFill>
                <a:latin typeface="Lato"/>
                <a:ea typeface="Lato"/>
              </a:rPr>
              <a:t>Hedefe git: ilerleme, sonuç ve iptal isteği.</a:t>
            </a:r>
            <a:endParaRPr b="0" lang="en-US" sz="1350" spc="-1" strike="noStrike">
              <a:solidFill>
                <a:srgbClr val="000000"/>
              </a:solidFill>
              <a:latin typeface="Arial"/>
            </a:endParaRPr>
          </a:p>
        </p:txBody>
      </p:sp>
      <p:sp>
        <p:nvSpPr>
          <p:cNvPr id="181" name="Dikdörtgen: Köşeleri Yuvarlatılmış 19"/>
          <p:cNvSpPr/>
          <p:nvPr/>
        </p:nvSpPr>
        <p:spPr>
          <a:xfrm>
            <a:off x="685800" y="5638680"/>
            <a:ext cx="10667520" cy="514080"/>
          </a:xfrm>
          <a:prstGeom prst="roundRect">
            <a:avLst>
              <a:gd name="adj" fmla="val 22222"/>
            </a:avLst>
          </a:prstGeom>
          <a:solidFill>
            <a:srgbClr val="009b8e"/>
          </a:solidFill>
          <a:ln w="0">
            <a:noFill/>
          </a:ln>
        </p:spPr>
        <p:style>
          <a:lnRef idx="0"/>
          <a:fillRef idx="0"/>
          <a:effectRef idx="0"/>
          <a:fontRef idx="minor"/>
        </p:style>
        <p:txBody>
          <a:bodyPr lIns="76320" rIns="76320" tIns="57240" bIns="57240" anchor="ctr">
            <a:noAutofit/>
          </a:bodyPr>
          <a:p>
            <a:pPr defTabSz="914400">
              <a:lnSpc>
                <a:spcPct val="100000"/>
              </a:lnSpc>
            </a:pPr>
            <a:r>
              <a:rPr b="1" lang="en-US" sz="1350" spc="-1" strike="noStrike">
                <a:solidFill>
                  <a:srgbClr val="ffffff"/>
                </a:solidFill>
                <a:latin typeface="Lato"/>
                <a:ea typeface="Lato"/>
              </a:rPr>
              <a:t>Şimdi yalnız topic iletişimini talker–listener örneğinde göreceğiz.</a:t>
            </a:r>
            <a:endParaRPr b="0" lang="en-US" sz="13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82" name="Dikdörtgen 13"/>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83"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KAVRAM</a:t>
            </a:r>
            <a:endParaRPr b="0" lang="en-US" sz="980" spc="-1" strike="noStrike">
              <a:solidFill>
                <a:srgbClr val="000000"/>
              </a:solidFill>
              <a:latin typeface="Arial"/>
            </a:endParaRPr>
          </a:p>
        </p:txBody>
      </p:sp>
      <p:sp>
        <p:nvSpPr>
          <p:cNvPr id="184"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Twist: hız alanları</a:t>
            </a:r>
            <a:endParaRPr b="0" lang="en-US" sz="2850" spc="-1" strike="noStrike">
              <a:solidFill>
                <a:srgbClr val="000000"/>
              </a:solidFill>
              <a:latin typeface="Arial"/>
            </a:endParaRPr>
          </a:p>
        </p:txBody>
      </p:sp>
      <p:sp>
        <p:nvSpPr>
          <p:cNvPr id="185"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86"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187"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13 / 16</a:t>
            </a:r>
            <a:endParaRPr b="0" lang="en-US" sz="900" spc="-1" strike="noStrike">
              <a:solidFill>
                <a:srgbClr val="000000"/>
              </a:solidFill>
              <a:latin typeface="Arial"/>
            </a:endParaRPr>
          </a:p>
        </p:txBody>
      </p:sp>
      <p:sp>
        <p:nvSpPr>
          <p:cNvPr id="188" name="Dikdörtgen 6"/>
          <p:cNvSpPr/>
          <p:nvPr/>
        </p:nvSpPr>
        <p:spPr>
          <a:xfrm>
            <a:off x="685800" y="1428840"/>
            <a:ext cx="4762080" cy="1123560"/>
          </a:xfrm>
          <a:prstGeom prst="rect">
            <a:avLst/>
          </a:prstGeom>
          <a:noFill/>
          <a:ln w="0">
            <a:noFill/>
          </a:ln>
        </p:spPr>
        <p:style>
          <a:lnRef idx="0"/>
          <a:fillRef idx="0"/>
          <a:effectRef idx="0"/>
          <a:fontRef idx="minor"/>
        </p:style>
        <p:txBody>
          <a:bodyPr lIns="0" rIns="133200" tIns="0" bIns="0" anchor="ctr">
            <a:noAutofit/>
          </a:bodyPr>
          <a:p>
            <a:pPr defTabSz="914400">
              <a:lnSpc>
                <a:spcPct val="100000"/>
              </a:lnSpc>
            </a:pPr>
            <a:r>
              <a:rPr b="1" lang="en-US" sz="2850" spc="-1" strike="noStrike">
                <a:solidFill>
                  <a:srgbClr val="009b8e"/>
                </a:solidFill>
                <a:latin typeface="Lato"/>
                <a:ea typeface="Lato"/>
              </a:rPr>
              <a:t>linear.x ve angular.z</a:t>
            </a:r>
            <a:endParaRPr b="0" lang="en-US" sz="2850" spc="-1" strike="noStrike">
              <a:solidFill>
                <a:srgbClr val="000000"/>
              </a:solidFill>
              <a:latin typeface="Arial"/>
            </a:endParaRPr>
          </a:p>
        </p:txBody>
      </p:sp>
      <p:sp>
        <p:nvSpPr>
          <p:cNvPr id="189" name="Dikdörtgen 7"/>
          <p:cNvSpPr/>
          <p:nvPr/>
        </p:nvSpPr>
        <p:spPr>
          <a:xfrm>
            <a:off x="685800" y="2781360"/>
            <a:ext cx="4809600" cy="1028520"/>
          </a:xfrm>
          <a:prstGeom prst="rect">
            <a:avLst/>
          </a:prstGeom>
          <a:noFill/>
          <a:ln w="0">
            <a:noFill/>
          </a:ln>
        </p:spPr>
        <p:style>
          <a:lnRef idx="0"/>
          <a:fillRef idx="0"/>
          <a:effectRef idx="0"/>
          <a:fontRef idx="minor"/>
        </p:style>
        <p:txBody>
          <a:bodyPr lIns="0" rIns="171360" tIns="0" bIns="0" anchor="t">
            <a:noAutofit/>
          </a:bodyPr>
          <a:p>
            <a:pPr defTabSz="914400">
              <a:lnSpc>
                <a:spcPct val="100000"/>
              </a:lnSpc>
            </a:pPr>
            <a:r>
              <a:rPr b="0" lang="en-US" sz="1650" spc="-1" strike="noStrike">
                <a:solidFill>
                  <a:srgbClr val="314659"/>
                </a:solidFill>
                <a:latin typeface="Lato"/>
                <a:ea typeface="Lato"/>
              </a:rPr>
              <a:t>Twist arayüzünü açıp hız alanlarını okuyacağız. Burger’ın /cmd_vel akışı bunları TwistStamped içinde taşır.</a:t>
            </a:r>
            <a:endParaRPr b="0" lang="en-US" sz="1650" spc="-1" strike="noStrike">
              <a:solidFill>
                <a:srgbClr val="000000"/>
              </a:solidFill>
              <a:latin typeface="Arial"/>
            </a:endParaRPr>
          </a:p>
        </p:txBody>
      </p:sp>
      <p:sp>
        <p:nvSpPr>
          <p:cNvPr id="190" name="Dikdörtgen 8"/>
          <p:cNvSpPr/>
          <p:nvPr/>
        </p:nvSpPr>
        <p:spPr>
          <a:xfrm>
            <a:off x="685800" y="4095720"/>
            <a:ext cx="4809600" cy="180936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linear.x pozitifse ileri hız istenir.</a:t>
            </a: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angular.z dönüş hızını belirler.</a:t>
            </a:r>
            <a:endParaRPr b="0" lang="en-US" sz="1430" spc="-1" strike="noStrike">
              <a:solidFill>
                <a:srgbClr val="000000"/>
              </a:solidFill>
              <a:latin typeface="Arial"/>
            </a:endParaRPr>
          </a:p>
          <a:p>
            <a:pPr marL="241200" indent="-114480" defTabSz="914400">
              <a:lnSpc>
                <a:spcPct val="100000"/>
              </a:lnSpc>
              <a:spcAft>
                <a:spcPts val="901"/>
              </a:spcAft>
              <a:buClr>
                <a:srgbClr val="314659"/>
              </a:buClr>
              <a:buFont typeface="Symbol" charset="2"/>
              <a:buChar char=""/>
            </a:pPr>
            <a:r>
              <a:rPr b="0" lang="en-US" sz="1430" spc="-1" strike="noStrike">
                <a:solidFill>
                  <a:srgbClr val="314659"/>
                </a:solidFill>
                <a:latin typeface="Lato"/>
                <a:ea typeface="Lato"/>
              </a:rPr>
              <a:t>s veya boşluk teleop hedefini sıfırlar.</a:t>
            </a:r>
            <a:endParaRPr b="0" lang="en-US" sz="1430" spc="-1" strike="noStrike">
              <a:solidFill>
                <a:srgbClr val="000000"/>
              </a:solidFill>
              <a:latin typeface="Arial"/>
            </a:endParaRPr>
          </a:p>
        </p:txBody>
      </p:sp>
      <p:sp>
        <p:nvSpPr>
          <p:cNvPr id="191" name="Dikdörtgen: Köşeleri Yuvarlatılmış 9"/>
          <p:cNvSpPr/>
          <p:nvPr/>
        </p:nvSpPr>
        <p:spPr>
          <a:xfrm>
            <a:off x="6114960" y="1428840"/>
            <a:ext cx="5238360" cy="4476240"/>
          </a:xfrm>
          <a:prstGeom prst="roundRect">
            <a:avLst>
              <a:gd name="adj" fmla="val 3830"/>
            </a:avLst>
          </a:prstGeom>
          <a:solidFill>
            <a:srgbClr val="ffffff"/>
          </a:solidFill>
          <a:ln w="9525">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192" name="Dikdörtgen 10"/>
          <p:cNvSpPr/>
          <p:nvPr/>
        </p:nvSpPr>
        <p:spPr>
          <a:xfrm>
            <a:off x="6438960" y="1733400"/>
            <a:ext cx="4190760" cy="24732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TÜR AYRIMI</a:t>
            </a:r>
            <a:endParaRPr b="0" lang="en-US" sz="980" spc="-1" strike="noStrike">
              <a:solidFill>
                <a:srgbClr val="000000"/>
              </a:solidFill>
              <a:latin typeface="Arial"/>
            </a:endParaRPr>
          </a:p>
        </p:txBody>
      </p:sp>
      <p:sp>
        <p:nvSpPr>
          <p:cNvPr id="193" name="Dikdörtgen 11"/>
          <p:cNvSpPr/>
          <p:nvPr/>
        </p:nvSpPr>
        <p:spPr>
          <a:xfrm>
            <a:off x="6438960" y="2152800"/>
            <a:ext cx="4476240" cy="8377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320" spc="-1" strike="noStrike">
                <a:solidFill>
                  <a:srgbClr val="132638"/>
                </a:solidFill>
                <a:latin typeface="Lato"/>
                <a:ea typeface="Lato"/>
              </a:rPr>
              <a:t>Twist → TwistStamped içinde</a:t>
            </a:r>
            <a:endParaRPr b="0" lang="en-US" sz="2320" spc="-1" strike="noStrike">
              <a:solidFill>
                <a:srgbClr val="000000"/>
              </a:solidFill>
              <a:latin typeface="Arial"/>
            </a:endParaRPr>
          </a:p>
        </p:txBody>
      </p:sp>
      <p:sp>
        <p:nvSpPr>
          <p:cNvPr id="194" name="Dikdörtgen 12"/>
          <p:cNvSpPr/>
          <p:nvPr/>
        </p:nvSpPr>
        <p:spPr>
          <a:xfrm>
            <a:off x="6400800" y="3200400"/>
            <a:ext cx="4514400" cy="2190240"/>
          </a:xfrm>
          <a:prstGeom prst="rect">
            <a:avLst/>
          </a:prstGeom>
          <a:noFill/>
          <a:ln w="0">
            <a:noFill/>
          </a:ln>
        </p:spPr>
        <p:style>
          <a:lnRef idx="0"/>
          <a:fillRef idx="0"/>
          <a:effectRef idx="0"/>
          <a:fontRef idx="minor"/>
        </p:style>
        <p:txBody>
          <a:bodyPr lIns="38160" rIns="38160" tIns="38160" bIns="38160" anchor="t">
            <a:noAutofit/>
          </a:bodyPr>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Twist: linear ve angular</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TwistStamped: header + twist</a:t>
            </a:r>
            <a:endParaRPr b="0" lang="en-US" sz="1500" spc="-1" strike="noStrike">
              <a:solidFill>
                <a:srgbClr val="000000"/>
              </a:solidFill>
              <a:latin typeface="Arial"/>
            </a:endParaRPr>
          </a:p>
          <a:p>
            <a:pPr marL="241200" indent="-114480" defTabSz="914400">
              <a:lnSpc>
                <a:spcPct val="100000"/>
              </a:lnSpc>
              <a:spcAft>
                <a:spcPts val="1199"/>
              </a:spcAft>
              <a:buClr>
                <a:srgbClr val="314659"/>
              </a:buClr>
              <a:buFont typeface="Symbol" charset="2"/>
              <a:buChar char=""/>
            </a:pPr>
            <a:r>
              <a:rPr b="0" lang="en-US" sz="1500" spc="-1" strike="noStrike">
                <a:solidFill>
                  <a:srgbClr val="314659"/>
                </a:solidFill>
                <a:latin typeface="Lato"/>
                <a:ea typeface="Lato"/>
              </a:rPr>
              <a:t>Bu Jazzy /cmd_vel: TwistStamped</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95" name="Dikdörtgen 23"/>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196"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DURUM MAKİNESİ</a:t>
            </a:r>
            <a:endParaRPr b="0" lang="en-US" sz="980" spc="-1" strike="noStrike">
              <a:solidFill>
                <a:srgbClr val="000000"/>
              </a:solidFill>
              <a:latin typeface="Arial"/>
            </a:endParaRPr>
          </a:p>
        </p:txBody>
      </p:sp>
      <p:sp>
        <p:nvSpPr>
          <p:cNvPr id="197"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Klavye ile Burger kontrolü</a:t>
            </a:r>
            <a:endParaRPr b="0" lang="en-US" sz="2850" spc="-1" strike="noStrike">
              <a:solidFill>
                <a:srgbClr val="000000"/>
              </a:solidFill>
              <a:latin typeface="Arial"/>
            </a:endParaRPr>
          </a:p>
        </p:txBody>
      </p:sp>
      <p:sp>
        <p:nvSpPr>
          <p:cNvPr id="198"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199"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200"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14 / 16</a:t>
            </a:r>
            <a:endParaRPr b="0" lang="en-US" sz="900" spc="-1" strike="noStrike">
              <a:solidFill>
                <a:srgbClr val="000000"/>
              </a:solidFill>
              <a:latin typeface="Arial"/>
            </a:endParaRPr>
          </a:p>
        </p:txBody>
      </p:sp>
      <p:sp>
        <p:nvSpPr>
          <p:cNvPr id="201" name="Dikdörtgen 6"/>
          <p:cNvSpPr/>
          <p:nvPr/>
        </p:nvSpPr>
        <p:spPr>
          <a:xfrm>
            <a:off x="685800" y="1257480"/>
            <a:ext cx="10667520" cy="5331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80" spc="-1" strike="noStrike">
                <a:solidFill>
                  <a:srgbClr val="314659"/>
                </a:solidFill>
                <a:latin typeface="Lato"/>
                <a:ea typeface="Lato"/>
              </a:rPr>
              <a:t>Kurulu turtlebot3_teleop aracı tuşlarla hedef hız üretir. Ayrı bir hareket düğümü yazmıyoruz.</a:t>
            </a:r>
            <a:endParaRPr b="0" lang="en-US" sz="1580" spc="-1" strike="noStrike">
              <a:solidFill>
                <a:srgbClr val="000000"/>
              </a:solidFill>
              <a:latin typeface="Arial"/>
            </a:endParaRPr>
          </a:p>
        </p:txBody>
      </p:sp>
      <p:sp>
        <p:nvSpPr>
          <p:cNvPr id="202" name="Dikdörtgen: Köşeleri Yuvarlatılmış 7"/>
          <p:cNvSpPr/>
          <p:nvPr/>
        </p:nvSpPr>
        <p:spPr>
          <a:xfrm>
            <a:off x="876240" y="2343240"/>
            <a:ext cx="2190240" cy="1428480"/>
          </a:xfrm>
          <a:prstGeom prst="roundRect">
            <a:avLst>
              <a:gd name="adj" fmla="val 13333"/>
            </a:avLst>
          </a:prstGeom>
          <a:solidFill>
            <a:srgbClr val="ffffff"/>
          </a:solidFill>
          <a:ln w="19050">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203" name="Dikdörtgen 8"/>
          <p:cNvSpPr/>
          <p:nvPr/>
        </p:nvSpPr>
        <p:spPr>
          <a:xfrm>
            <a:off x="990720" y="2571840"/>
            <a:ext cx="196164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800" spc="-1" strike="noStrike">
                <a:solidFill>
                  <a:srgbClr val="132638"/>
                </a:solidFill>
                <a:latin typeface="Lato"/>
                <a:ea typeface="Lato"/>
              </a:rPr>
              <a:t>w / x</a:t>
            </a:r>
            <a:endParaRPr b="0" lang="en-US" sz="1800" spc="-1" strike="noStrike">
              <a:solidFill>
                <a:srgbClr val="000000"/>
              </a:solidFill>
              <a:latin typeface="Arial"/>
            </a:endParaRPr>
          </a:p>
        </p:txBody>
      </p:sp>
      <p:sp>
        <p:nvSpPr>
          <p:cNvPr id="204" name="Dikdörtgen 9"/>
          <p:cNvSpPr/>
          <p:nvPr/>
        </p:nvSpPr>
        <p:spPr>
          <a:xfrm>
            <a:off x="1028880" y="3105000"/>
            <a:ext cx="1885680" cy="514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314659"/>
                </a:solidFill>
                <a:latin typeface="Lato"/>
                <a:ea typeface="Lato"/>
              </a:rPr>
              <a:t>ileri hızı artır / azalt</a:t>
            </a:r>
            <a:endParaRPr b="0" lang="en-US" sz="1200" spc="-1" strike="noStrike">
              <a:solidFill>
                <a:srgbClr val="000000"/>
              </a:solidFill>
              <a:latin typeface="Arial"/>
            </a:endParaRPr>
          </a:p>
        </p:txBody>
      </p:sp>
      <p:sp>
        <p:nvSpPr>
          <p:cNvPr id="205" name="Dikdörtgen: Köşeleri Yuvarlatılmış 10"/>
          <p:cNvSpPr/>
          <p:nvPr/>
        </p:nvSpPr>
        <p:spPr>
          <a:xfrm>
            <a:off x="3600360" y="2343240"/>
            <a:ext cx="2190240" cy="1428480"/>
          </a:xfrm>
          <a:prstGeom prst="roundRect">
            <a:avLst>
              <a:gd name="adj" fmla="val 13333"/>
            </a:avLst>
          </a:prstGeom>
          <a:solidFill>
            <a:srgbClr val="009b8e"/>
          </a:solidFill>
          <a:ln w="19050">
            <a:solidFill>
              <a:srgbClr val="009b8e"/>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206" name="Dikdörtgen 11"/>
          <p:cNvSpPr/>
          <p:nvPr/>
        </p:nvSpPr>
        <p:spPr>
          <a:xfrm>
            <a:off x="3714840" y="2571840"/>
            <a:ext cx="196164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800" spc="-1" strike="noStrike">
                <a:solidFill>
                  <a:srgbClr val="ffffff"/>
                </a:solidFill>
                <a:latin typeface="Lato"/>
                <a:ea typeface="Lato"/>
              </a:rPr>
              <a:t>a / d</a:t>
            </a:r>
            <a:endParaRPr b="0" lang="en-US" sz="1800" spc="-1" strike="noStrike">
              <a:solidFill>
                <a:srgbClr val="000000"/>
              </a:solidFill>
              <a:latin typeface="Arial"/>
            </a:endParaRPr>
          </a:p>
        </p:txBody>
      </p:sp>
      <p:sp>
        <p:nvSpPr>
          <p:cNvPr id="207" name="Dikdörtgen 12"/>
          <p:cNvSpPr/>
          <p:nvPr/>
        </p:nvSpPr>
        <p:spPr>
          <a:xfrm>
            <a:off x="3753000" y="3105000"/>
            <a:ext cx="1885680" cy="514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ffffff"/>
                </a:solidFill>
                <a:latin typeface="Lato"/>
                <a:ea typeface="Lato"/>
              </a:rPr>
              <a:t>dönüş hızını değiştir</a:t>
            </a:r>
            <a:endParaRPr b="0" lang="en-US" sz="1200" spc="-1" strike="noStrike">
              <a:solidFill>
                <a:srgbClr val="000000"/>
              </a:solidFill>
              <a:latin typeface="Arial"/>
            </a:endParaRPr>
          </a:p>
        </p:txBody>
      </p:sp>
      <p:sp>
        <p:nvSpPr>
          <p:cNvPr id="208" name="Dikdörtgen: Köşeleri Yuvarlatılmış 13"/>
          <p:cNvSpPr/>
          <p:nvPr/>
        </p:nvSpPr>
        <p:spPr>
          <a:xfrm>
            <a:off x="6324480" y="2343240"/>
            <a:ext cx="2190240" cy="1428480"/>
          </a:xfrm>
          <a:prstGeom prst="roundRect">
            <a:avLst>
              <a:gd name="adj" fmla="val 13333"/>
            </a:avLst>
          </a:prstGeom>
          <a:solidFill>
            <a:srgbClr val="ffffff"/>
          </a:solidFill>
          <a:ln w="19050">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209" name="Dikdörtgen 14"/>
          <p:cNvSpPr/>
          <p:nvPr/>
        </p:nvSpPr>
        <p:spPr>
          <a:xfrm>
            <a:off x="6438960" y="2571840"/>
            <a:ext cx="196164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800" spc="-1" strike="noStrike">
                <a:solidFill>
                  <a:srgbClr val="132638"/>
                </a:solidFill>
                <a:latin typeface="Lato"/>
                <a:ea typeface="Lato"/>
              </a:rPr>
              <a:t>s / boşluk</a:t>
            </a:r>
            <a:endParaRPr b="0" lang="en-US" sz="1800" spc="-1" strike="noStrike">
              <a:solidFill>
                <a:srgbClr val="000000"/>
              </a:solidFill>
              <a:latin typeface="Arial"/>
            </a:endParaRPr>
          </a:p>
        </p:txBody>
      </p:sp>
      <p:sp>
        <p:nvSpPr>
          <p:cNvPr id="210" name="Dikdörtgen 15"/>
          <p:cNvSpPr/>
          <p:nvPr/>
        </p:nvSpPr>
        <p:spPr>
          <a:xfrm>
            <a:off x="6477120" y="3105000"/>
            <a:ext cx="1885680" cy="514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314659"/>
                </a:solidFill>
                <a:latin typeface="Lato"/>
                <a:ea typeface="Lato"/>
              </a:rPr>
              <a:t>hız hedefini sıfırla</a:t>
            </a:r>
            <a:endParaRPr b="0" lang="en-US" sz="1200" spc="-1" strike="noStrike">
              <a:solidFill>
                <a:srgbClr val="000000"/>
              </a:solidFill>
              <a:latin typeface="Arial"/>
            </a:endParaRPr>
          </a:p>
        </p:txBody>
      </p:sp>
      <p:sp>
        <p:nvSpPr>
          <p:cNvPr id="211" name="Dikdörtgen: Köşeleri Yuvarlatılmış 16"/>
          <p:cNvSpPr/>
          <p:nvPr/>
        </p:nvSpPr>
        <p:spPr>
          <a:xfrm>
            <a:off x="9048600" y="2343240"/>
            <a:ext cx="2190240" cy="1428480"/>
          </a:xfrm>
          <a:prstGeom prst="roundRect">
            <a:avLst>
              <a:gd name="adj" fmla="val 13333"/>
            </a:avLst>
          </a:prstGeom>
          <a:solidFill>
            <a:srgbClr val="ffffff"/>
          </a:solidFill>
          <a:ln w="19050">
            <a:solidFill>
              <a:srgbClr val="d7e1e6"/>
            </a:solidFill>
            <a:round/>
          </a:ln>
          <a:effectLst>
            <a:outerShdw blurRad="19080" dir="5400000" dist="9360">
              <a:srgbClr val="000000">
                <a:alpha val="6000"/>
              </a:srgbClr>
            </a:outerShdw>
          </a:effectLst>
        </p:spPr>
        <p:style>
          <a:lnRef idx="0"/>
          <a:fillRef idx="0"/>
          <a:effectRef idx="4"/>
          <a:fontRef idx="minor"/>
        </p:style>
        <p:txBody>
          <a:bodyPr lIns="90000" rIns="90000" tIns="45000" bIns="45000" anchor="t">
            <a:noAutofit/>
          </a:bodyPr>
          <a:p>
            <a:pPr defTabSz="914400">
              <a:lnSpc>
                <a:spcPct val="100000"/>
              </a:lnSpc>
            </a:pPr>
            <a:endParaRPr b="0" lang="en-US" sz="1800" spc="-1" strike="noStrike">
              <a:solidFill>
                <a:srgbClr val="000000"/>
              </a:solidFill>
              <a:latin typeface="Calibri Light"/>
              <a:ea typeface="Calibri Light"/>
            </a:endParaRPr>
          </a:p>
        </p:txBody>
      </p:sp>
      <p:sp>
        <p:nvSpPr>
          <p:cNvPr id="212" name="Dikdörtgen 17"/>
          <p:cNvSpPr/>
          <p:nvPr/>
        </p:nvSpPr>
        <p:spPr>
          <a:xfrm>
            <a:off x="9163080" y="2571840"/>
            <a:ext cx="196164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800" spc="-1" strike="noStrike">
                <a:solidFill>
                  <a:srgbClr val="132638"/>
                </a:solidFill>
                <a:latin typeface="Lato"/>
                <a:ea typeface="Lato"/>
              </a:rPr>
              <a:t>Ctrl+C</a:t>
            </a:r>
            <a:endParaRPr b="0" lang="en-US" sz="1800" spc="-1" strike="noStrike">
              <a:solidFill>
                <a:srgbClr val="000000"/>
              </a:solidFill>
              <a:latin typeface="Arial"/>
            </a:endParaRPr>
          </a:p>
        </p:txBody>
      </p:sp>
      <p:sp>
        <p:nvSpPr>
          <p:cNvPr id="213" name="Dikdörtgen 18"/>
          <p:cNvSpPr/>
          <p:nvPr/>
        </p:nvSpPr>
        <p:spPr>
          <a:xfrm>
            <a:off x="9201240" y="3105000"/>
            <a:ext cx="1885680" cy="514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lang="en-US" sz="1200" spc="-1" strike="noStrike">
                <a:solidFill>
                  <a:srgbClr val="314659"/>
                </a:solidFill>
                <a:latin typeface="Lato"/>
                <a:ea typeface="Lato"/>
              </a:rPr>
              <a:t>teleop programını kapat</a:t>
            </a:r>
            <a:endParaRPr b="0" lang="en-US" sz="1200" spc="-1" strike="noStrike">
              <a:solidFill>
                <a:srgbClr val="000000"/>
              </a:solidFill>
              <a:latin typeface="Arial"/>
            </a:endParaRPr>
          </a:p>
        </p:txBody>
      </p:sp>
      <p:cxnSp>
        <p:nvCxnSpPr>
          <p:cNvPr id="214" name="Düz Ok Bağlayıcısı 42"/>
          <p:cNvCxnSpPr>
            <a:stCxn id="202" idx="3"/>
            <a:endCxn id="205" idx="1"/>
          </p:cNvCxnSpPr>
          <p:nvPr/>
        </p:nvCxnSpPr>
        <p:spPr>
          <a:xfrm>
            <a:off x="3066480" y="3057480"/>
            <a:ext cx="534240" cy="360"/>
          </a:xfrm>
          <a:prstGeom prst="straightConnector1">
            <a:avLst/>
          </a:prstGeom>
          <a:ln w="28575">
            <a:solidFill>
              <a:srgbClr val="009b8e"/>
            </a:solidFill>
            <a:round/>
            <a:tailEnd len="sm" type="triangle" w="sm"/>
          </a:ln>
        </p:spPr>
      </p:cxnSp>
      <p:cxnSp>
        <p:nvCxnSpPr>
          <p:cNvPr id="215" name="Düz Ok Bağlayıcısı 43"/>
          <p:cNvCxnSpPr>
            <a:stCxn id="205" idx="3"/>
            <a:endCxn id="208" idx="1"/>
          </p:cNvCxnSpPr>
          <p:nvPr/>
        </p:nvCxnSpPr>
        <p:spPr>
          <a:xfrm>
            <a:off x="5790600" y="3057480"/>
            <a:ext cx="534240" cy="360"/>
          </a:xfrm>
          <a:prstGeom prst="straightConnector1">
            <a:avLst/>
          </a:prstGeom>
          <a:ln w="28575">
            <a:solidFill>
              <a:srgbClr val="009b8e"/>
            </a:solidFill>
            <a:round/>
            <a:tailEnd len="sm" type="triangle" w="sm"/>
          </a:ln>
        </p:spPr>
      </p:cxnSp>
      <p:cxnSp>
        <p:nvCxnSpPr>
          <p:cNvPr id="216" name="Düz Ok Bağlayıcısı 44"/>
          <p:cNvCxnSpPr>
            <a:stCxn id="208" idx="3"/>
            <a:endCxn id="211" idx="1"/>
          </p:cNvCxnSpPr>
          <p:nvPr/>
        </p:nvCxnSpPr>
        <p:spPr>
          <a:xfrm>
            <a:off x="8514720" y="3057480"/>
            <a:ext cx="534240" cy="360"/>
          </a:xfrm>
          <a:prstGeom prst="straightConnector1">
            <a:avLst/>
          </a:prstGeom>
          <a:ln w="28575">
            <a:solidFill>
              <a:srgbClr val="009b8e"/>
            </a:solidFill>
            <a:round/>
            <a:tailEnd len="sm" type="triangle" w="sm"/>
          </a:ln>
        </p:spPr>
      </p:cxnSp>
      <p:sp>
        <p:nvSpPr>
          <p:cNvPr id="217" name="Dikdörtgen: Köşeleri Yuvarlatılmış 22"/>
          <p:cNvSpPr/>
          <p:nvPr/>
        </p:nvSpPr>
        <p:spPr>
          <a:xfrm>
            <a:off x="1104840" y="4476600"/>
            <a:ext cx="9981720" cy="1066320"/>
          </a:xfrm>
          <a:prstGeom prst="roundRect">
            <a:avLst>
              <a:gd name="adj" fmla="val 12500"/>
            </a:avLst>
          </a:prstGeom>
          <a:solidFill>
            <a:srgbClr val="ffffff"/>
          </a:solidFill>
          <a:ln w="9525">
            <a:solidFill>
              <a:srgbClr val="d7e1e6"/>
            </a:solidFill>
            <a:round/>
          </a:ln>
        </p:spPr>
        <p:style>
          <a:lnRef idx="0"/>
          <a:fillRef idx="0"/>
          <a:effectRef idx="0"/>
          <a:fontRef idx="minor"/>
        </p:style>
        <p:txBody>
          <a:bodyPr lIns="76320" rIns="76320" tIns="57240" bIns="57240" anchor="ctr">
            <a:noAutofit/>
          </a:bodyPr>
          <a:p>
            <a:pPr algn="ctr" defTabSz="914400">
              <a:lnSpc>
                <a:spcPct val="100000"/>
              </a:lnSpc>
            </a:pPr>
            <a:r>
              <a:rPr b="1" lang="en-US" sz="1580" spc="-1" strike="noStrike">
                <a:solidFill>
                  <a:srgbClr val="009b8e"/>
                </a:solidFill>
                <a:latin typeface="Lato"/>
                <a:ea typeface="Lato"/>
              </a:rPr>
              <a:t>Tuşlar yalnız teleop terminali odaktayken algılanır.</a:t>
            </a:r>
            <a:endParaRPr b="0" lang="en-US" sz="15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218" name="Dikdörtgen 11"/>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19"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CANLI DEMO</a:t>
            </a:r>
            <a:endParaRPr b="0" lang="en-US" sz="980" spc="-1" strike="noStrike">
              <a:solidFill>
                <a:srgbClr val="000000"/>
              </a:solidFill>
              <a:latin typeface="Arial"/>
            </a:endParaRPr>
          </a:p>
        </p:txBody>
      </p:sp>
      <p:sp>
        <p:nvSpPr>
          <p:cNvPr id="220"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Burger empty_world ve /cmd_vel</a:t>
            </a:r>
            <a:endParaRPr b="0" lang="en-US" sz="2850" spc="-1" strike="noStrike">
              <a:solidFill>
                <a:srgbClr val="000000"/>
              </a:solidFill>
              <a:latin typeface="Arial"/>
            </a:endParaRPr>
          </a:p>
        </p:txBody>
      </p:sp>
      <p:sp>
        <p:nvSpPr>
          <p:cNvPr id="221"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22"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223"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15 / 16</a:t>
            </a:r>
            <a:endParaRPr b="0" lang="en-US" sz="900" spc="-1" strike="noStrike">
              <a:solidFill>
                <a:srgbClr val="000000"/>
              </a:solidFill>
              <a:latin typeface="Arial"/>
            </a:endParaRPr>
          </a:p>
        </p:txBody>
      </p:sp>
      <p:sp>
        <p:nvSpPr>
          <p:cNvPr id="224" name="Dikdörtgen: Köşeleri Yuvarlatılmış 7"/>
          <p:cNvSpPr/>
          <p:nvPr/>
        </p:nvSpPr>
        <p:spPr>
          <a:xfrm>
            <a:off x="685800" y="1962000"/>
            <a:ext cx="6667200" cy="3733560"/>
          </a:xfrm>
          <a:prstGeom prst="roundRect">
            <a:avLst>
              <a:gd name="adj" fmla="val 4082"/>
            </a:avLst>
          </a:prstGeom>
          <a:solidFill>
            <a:srgbClr val="10263a"/>
          </a:solidFill>
          <a:ln w="0">
            <a:noFill/>
          </a:ln>
          <a:effectLst>
            <a:outerShdw blurRad="19080" dir="5400000" dist="9360">
              <a:srgbClr val="000000">
                <a:alpha val="6000"/>
              </a:srgbClr>
            </a:outerShdw>
          </a:effectLst>
        </p:spPr>
        <p:style>
          <a:lnRef idx="0"/>
          <a:fillRef idx="0"/>
          <a:effectRef idx="4"/>
          <a:fontRef idx="minor"/>
        </p:style>
        <p:txBody>
          <a:bodyPr lIns="228600" rIns="228600" tIns="228600" bIns="190440" anchor="t">
            <a:noAutofit/>
          </a:bodyPr>
          <a:p>
            <a:pPr defTabSz="914400">
              <a:lnSpc>
                <a:spcPct val="100000"/>
              </a:lnSpc>
            </a:pPr>
            <a:r>
              <a:rPr b="0" lang="en-US" sz="1130" spc="-1" strike="noStrike">
                <a:solidFill>
                  <a:srgbClr val="d7eef5"/>
                </a:solidFill>
                <a:latin typeface="DejaVu Sans Mono"/>
                <a:ea typeface="DejaVu Sans Mono"/>
              </a:rPr>
              <a:t># T1: Burger simülasyonu</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export TURTLEBOT3_MODEL=burger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launch turtlebot3_gazebo empty_world.launch.py</a:t>
            </a:r>
            <a:endParaRPr b="0" lang="en-US" sz="1130" spc="-1" strike="noStrike">
              <a:solidFill>
                <a:srgbClr val="ffffff"/>
              </a:solidFill>
              <a:latin typeface="Arial"/>
            </a:endParaRPr>
          </a:p>
          <a:p>
            <a:pPr defTabSz="914400">
              <a:lnSpc>
                <a:spcPct val="100000"/>
              </a:lnSpc>
            </a:pP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T2: gözlem</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node list</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topic list</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interface show geometry_msgs/msg/Twist</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topic echo /cmd_vel --once</a:t>
            </a:r>
            <a:endParaRPr b="0" lang="en-US" sz="1130" spc="-1" strike="noStrike">
              <a:solidFill>
                <a:srgbClr val="ffffff"/>
              </a:solidFill>
              <a:latin typeface="Arial"/>
            </a:endParaRPr>
          </a:p>
          <a:p>
            <a:pPr defTabSz="914400">
              <a:lnSpc>
                <a:spcPct val="100000"/>
              </a:lnSpc>
            </a:pP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 T3: önce model değişkeni, sonra teleop</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export TURTLEBOT3_MODEL=burger</a:t>
            </a:r>
            <a:endParaRPr b="0" lang="en-US" sz="1130" spc="-1" strike="noStrike">
              <a:solidFill>
                <a:srgbClr val="ffffff"/>
              </a:solidFill>
              <a:latin typeface="Arial"/>
            </a:endParaRPr>
          </a:p>
          <a:p>
            <a:pPr defTabSz="914400">
              <a:lnSpc>
                <a:spcPct val="100000"/>
              </a:lnSpc>
            </a:pPr>
            <a:r>
              <a:rPr b="0" lang="en-US" sz="1130" spc="-1" strike="noStrike">
                <a:solidFill>
                  <a:srgbClr val="d7eef5"/>
                </a:solidFill>
                <a:latin typeface="DejaVu Sans Mono"/>
                <a:ea typeface="DejaVu Sans Mono"/>
              </a:rPr>
              <a:t>ros2 run turtlebot3_teleop teleop_keyboard</a:t>
            </a:r>
            <a:endParaRPr b="0" lang="en-US" sz="113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225" name="Dikdörtgen 27"/>
          <p:cNvSpPr/>
          <p:nvPr/>
        </p:nvSpPr>
        <p:spPr>
          <a:xfrm>
            <a:off x="0" y="0"/>
            <a:ext cx="12191760" cy="95040"/>
          </a:xfrm>
          <a:prstGeom prst="rect">
            <a:avLst/>
          </a:prstGeom>
          <a:solidFill>
            <a:srgbClr val="00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26" name="Dikdörtgen 1"/>
          <p:cNvSpPr/>
          <p:nvPr/>
        </p:nvSpPr>
        <p:spPr>
          <a:xfrm>
            <a:off x="647640" y="304920"/>
            <a:ext cx="4095360" cy="228240"/>
          </a:xfrm>
          <a:prstGeom prst="rect">
            <a:avLst/>
          </a:prstGeom>
          <a:noFill/>
          <a:ln w="0">
            <a:noFill/>
          </a:ln>
        </p:spPr>
        <p:style>
          <a:lnRef idx="0"/>
          <a:fillRef idx="0"/>
          <a:effectRef idx="0"/>
          <a:fontRef idx="minor"/>
        </p:style>
        <p:txBody>
          <a:bodyPr lIns="38160" rIns="38160" tIns="19080" bIns="19080" anchor="ctr">
            <a:noAutofit/>
          </a:bodyPr>
          <a:p>
            <a:pPr defTabSz="914400">
              <a:lnSpc>
                <a:spcPct val="100000"/>
              </a:lnSpc>
            </a:pPr>
            <a:r>
              <a:rPr b="1" lang="en-US" sz="980" spc="-1" strike="noStrike">
                <a:solidFill>
                  <a:srgbClr val="009b8e"/>
                </a:solidFill>
                <a:latin typeface="Lato"/>
                <a:ea typeface="Lato"/>
              </a:rPr>
              <a:t>DERS SONU KONTROLÜ</a:t>
            </a:r>
            <a:endParaRPr b="0" lang="en-US" sz="980" spc="-1" strike="noStrike">
              <a:solidFill>
                <a:srgbClr val="000000"/>
              </a:solidFill>
              <a:latin typeface="Arial"/>
            </a:endParaRPr>
          </a:p>
        </p:txBody>
      </p:sp>
      <p:sp>
        <p:nvSpPr>
          <p:cNvPr id="227" name="Dikdörtgen 2"/>
          <p:cNvSpPr/>
          <p:nvPr/>
        </p:nvSpPr>
        <p:spPr>
          <a:xfrm>
            <a:off x="647640" y="609480"/>
            <a:ext cx="10667520" cy="6663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2850" spc="-1" strike="noStrike">
                <a:solidFill>
                  <a:srgbClr val="132638"/>
                </a:solidFill>
                <a:latin typeface="Lato"/>
                <a:ea typeface="Lato"/>
              </a:rPr>
              <a:t>Hafta 1 çıkış kontrolü</a:t>
            </a:r>
            <a:endParaRPr b="0" lang="en-US" sz="2850" spc="-1" strike="noStrike">
              <a:solidFill>
                <a:srgbClr val="000000"/>
              </a:solidFill>
              <a:latin typeface="Arial"/>
            </a:endParaRPr>
          </a:p>
        </p:txBody>
      </p:sp>
      <p:sp>
        <p:nvSpPr>
          <p:cNvPr id="228" name="Düz Bağlayıcı 3"/>
          <p:cNvSpPr/>
          <p:nvPr/>
        </p:nvSpPr>
        <p:spPr>
          <a:xfrm>
            <a:off x="647640" y="6457680"/>
            <a:ext cx="108964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29" name="Dikdörtgen 4"/>
          <p:cNvSpPr/>
          <p:nvPr/>
        </p:nvSpPr>
        <p:spPr>
          <a:xfrm>
            <a:off x="647640" y="6515280"/>
            <a:ext cx="6190920" cy="2091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900" spc="-1" strike="noStrike">
                <a:solidFill>
                  <a:srgbClr val="65798a"/>
                </a:solidFill>
                <a:latin typeface="Lato"/>
                <a:ea typeface="Lato"/>
              </a:rPr>
              <a:t>ROS 2 Jazzy ile Mobil Robotlara Giriş  |  ROS 2 temelleri</a:t>
            </a:r>
            <a:endParaRPr b="0" lang="en-US" sz="900" spc="-1" strike="noStrike">
              <a:solidFill>
                <a:srgbClr val="000000"/>
              </a:solidFill>
              <a:latin typeface="Arial"/>
            </a:endParaRPr>
          </a:p>
        </p:txBody>
      </p:sp>
      <p:sp>
        <p:nvSpPr>
          <p:cNvPr id="230" name="Dikdörtgen 5"/>
          <p:cNvSpPr/>
          <p:nvPr/>
        </p:nvSpPr>
        <p:spPr>
          <a:xfrm>
            <a:off x="10287000" y="6515280"/>
            <a:ext cx="1257120" cy="209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pPr>
            <a:r>
              <a:rPr b="1" lang="en-US" sz="900" spc="-1" strike="noStrike">
                <a:solidFill>
                  <a:srgbClr val="009b8e"/>
                </a:solidFill>
                <a:latin typeface="Lato"/>
                <a:ea typeface="Lato"/>
              </a:rPr>
              <a:t>16 / 16</a:t>
            </a:r>
            <a:endParaRPr b="0" lang="en-US" sz="900" spc="-1" strike="noStrike">
              <a:solidFill>
                <a:srgbClr val="000000"/>
              </a:solidFill>
              <a:latin typeface="Arial"/>
            </a:endParaRPr>
          </a:p>
        </p:txBody>
      </p:sp>
      <p:sp>
        <p:nvSpPr>
          <p:cNvPr id="231" name="Dikdörtgen 6"/>
          <p:cNvSpPr/>
          <p:nvPr/>
        </p:nvSpPr>
        <p:spPr>
          <a:xfrm>
            <a:off x="685800" y="1238400"/>
            <a:ext cx="1066752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80" spc="-1" strike="noStrike">
                <a:solidFill>
                  <a:srgbClr val="314659"/>
                </a:solidFill>
                <a:latin typeface="Lato"/>
                <a:ea typeface="Lato"/>
              </a:rPr>
              <a:t>Katılımcı aşağıdaki dört cümleyi kendi ekranından kanıtlayabiliyorsa hafta tamamdır.</a:t>
            </a:r>
            <a:endParaRPr b="0" lang="en-US" sz="1580" spc="-1" strike="noStrike">
              <a:solidFill>
                <a:srgbClr val="000000"/>
              </a:solidFill>
              <a:latin typeface="Arial"/>
            </a:endParaRPr>
          </a:p>
        </p:txBody>
      </p:sp>
      <p:sp>
        <p:nvSpPr>
          <p:cNvPr id="232" name="Oval 7"/>
          <p:cNvSpPr/>
          <p:nvPr/>
        </p:nvSpPr>
        <p:spPr>
          <a:xfrm>
            <a:off x="723960" y="2038320"/>
            <a:ext cx="361440" cy="361440"/>
          </a:xfrm>
          <a:prstGeom prst="ellipse">
            <a:avLst/>
          </a:prstGeom>
          <a:solidFill>
            <a:srgbClr val="ffffff"/>
          </a:solidFill>
          <a:ln w="19050">
            <a:solidFill>
              <a:srgbClr val="d7e1e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3" name="Dikdörtgen 8"/>
          <p:cNvSpPr/>
          <p:nvPr/>
        </p:nvSpPr>
        <p:spPr>
          <a:xfrm>
            <a:off x="723960" y="2038320"/>
            <a:ext cx="361440" cy="3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200" spc="-1" strike="noStrike">
                <a:solidFill>
                  <a:srgbClr val="009b8e"/>
                </a:solidFill>
                <a:latin typeface="Lato"/>
                <a:ea typeface="Lato"/>
              </a:rPr>
              <a:t>A</a:t>
            </a:r>
            <a:endParaRPr b="0" lang="en-US" sz="1200" spc="-1" strike="noStrike">
              <a:solidFill>
                <a:srgbClr val="000000"/>
              </a:solidFill>
              <a:latin typeface="Arial"/>
            </a:endParaRPr>
          </a:p>
        </p:txBody>
      </p:sp>
      <p:sp>
        <p:nvSpPr>
          <p:cNvPr id="234" name="Dikdörtgen 9"/>
          <p:cNvSpPr/>
          <p:nvPr/>
        </p:nvSpPr>
        <p:spPr>
          <a:xfrm>
            <a:off x="1333440" y="2000160"/>
            <a:ext cx="285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1650" spc="-1" strike="noStrike">
                <a:solidFill>
                  <a:srgbClr val="132638"/>
                </a:solidFill>
                <a:latin typeface="Lato"/>
                <a:ea typeface="Lato"/>
              </a:rPr>
              <a:t>Node</a:t>
            </a:r>
            <a:endParaRPr b="0" lang="en-US" sz="1650" spc="-1" strike="noStrike">
              <a:solidFill>
                <a:srgbClr val="000000"/>
              </a:solidFill>
              <a:latin typeface="Arial"/>
            </a:endParaRPr>
          </a:p>
        </p:txBody>
      </p:sp>
      <p:sp>
        <p:nvSpPr>
          <p:cNvPr id="235" name="Dikdörtgen 10"/>
          <p:cNvSpPr/>
          <p:nvPr/>
        </p:nvSpPr>
        <p:spPr>
          <a:xfrm>
            <a:off x="4476600" y="2000160"/>
            <a:ext cx="67053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1350" spc="-1" strike="noStrike">
                <a:solidFill>
                  <a:srgbClr val="314659"/>
                </a:solidFill>
                <a:latin typeface="Lato"/>
                <a:ea typeface="Lato"/>
              </a:rPr>
              <a:t>Talker, listener ve teleop_keyboard rollerini söyle.</a:t>
            </a:r>
            <a:endParaRPr b="0" lang="en-US" sz="1350" spc="-1" strike="noStrike">
              <a:solidFill>
                <a:srgbClr val="000000"/>
              </a:solidFill>
              <a:latin typeface="Arial"/>
            </a:endParaRPr>
          </a:p>
        </p:txBody>
      </p:sp>
      <p:sp>
        <p:nvSpPr>
          <p:cNvPr id="236" name="Düz Bağlayıcı 11"/>
          <p:cNvSpPr/>
          <p:nvPr/>
        </p:nvSpPr>
        <p:spPr>
          <a:xfrm>
            <a:off x="1333440" y="2619360"/>
            <a:ext cx="98488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37" name="Oval 12"/>
          <p:cNvSpPr/>
          <p:nvPr/>
        </p:nvSpPr>
        <p:spPr>
          <a:xfrm>
            <a:off x="723960" y="2819520"/>
            <a:ext cx="361440" cy="361440"/>
          </a:xfrm>
          <a:prstGeom prst="ellipse">
            <a:avLst/>
          </a:prstGeom>
          <a:solidFill>
            <a:srgbClr val="ffffff"/>
          </a:solidFill>
          <a:ln w="19050">
            <a:solidFill>
              <a:srgbClr val="d7e1e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38" name="Dikdörtgen 13"/>
          <p:cNvSpPr/>
          <p:nvPr/>
        </p:nvSpPr>
        <p:spPr>
          <a:xfrm>
            <a:off x="723960" y="2819520"/>
            <a:ext cx="361440" cy="3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200" spc="-1" strike="noStrike">
                <a:solidFill>
                  <a:srgbClr val="009b8e"/>
                </a:solidFill>
                <a:latin typeface="Lato"/>
                <a:ea typeface="Lato"/>
              </a:rPr>
              <a:t>B</a:t>
            </a:r>
            <a:endParaRPr b="0" lang="en-US" sz="1200" spc="-1" strike="noStrike">
              <a:solidFill>
                <a:srgbClr val="000000"/>
              </a:solidFill>
              <a:latin typeface="Arial"/>
            </a:endParaRPr>
          </a:p>
        </p:txBody>
      </p:sp>
      <p:sp>
        <p:nvSpPr>
          <p:cNvPr id="239" name="Dikdörtgen 14"/>
          <p:cNvSpPr/>
          <p:nvPr/>
        </p:nvSpPr>
        <p:spPr>
          <a:xfrm>
            <a:off x="1333440" y="2781360"/>
            <a:ext cx="285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1650" spc="-1" strike="noStrike">
                <a:solidFill>
                  <a:srgbClr val="132638"/>
                </a:solidFill>
                <a:latin typeface="Lato"/>
                <a:ea typeface="Lato"/>
              </a:rPr>
              <a:t>Topic</a:t>
            </a:r>
            <a:endParaRPr b="0" lang="en-US" sz="1650" spc="-1" strike="noStrike">
              <a:solidFill>
                <a:srgbClr val="000000"/>
              </a:solidFill>
              <a:latin typeface="Arial"/>
            </a:endParaRPr>
          </a:p>
        </p:txBody>
      </p:sp>
      <p:sp>
        <p:nvSpPr>
          <p:cNvPr id="240" name="Dikdörtgen 15"/>
          <p:cNvSpPr/>
          <p:nvPr/>
        </p:nvSpPr>
        <p:spPr>
          <a:xfrm>
            <a:off x="4476600" y="2781360"/>
            <a:ext cx="67053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1350" spc="-1" strike="noStrike">
                <a:solidFill>
                  <a:srgbClr val="314659"/>
                </a:solidFill>
                <a:latin typeface="Lato"/>
                <a:ea typeface="Lato"/>
              </a:rPr>
              <a:t>/chatter ile /cmd_vel’in görevlerini ayır.</a:t>
            </a:r>
            <a:endParaRPr b="0" lang="en-US" sz="1350" spc="-1" strike="noStrike">
              <a:solidFill>
                <a:srgbClr val="000000"/>
              </a:solidFill>
              <a:latin typeface="Arial"/>
            </a:endParaRPr>
          </a:p>
        </p:txBody>
      </p:sp>
      <p:sp>
        <p:nvSpPr>
          <p:cNvPr id="241" name="Düz Bağlayıcı 16"/>
          <p:cNvSpPr/>
          <p:nvPr/>
        </p:nvSpPr>
        <p:spPr>
          <a:xfrm>
            <a:off x="1333440" y="3400200"/>
            <a:ext cx="98488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42" name="Oval 17"/>
          <p:cNvSpPr/>
          <p:nvPr/>
        </p:nvSpPr>
        <p:spPr>
          <a:xfrm>
            <a:off x="723960" y="3600360"/>
            <a:ext cx="361440" cy="361440"/>
          </a:xfrm>
          <a:prstGeom prst="ellipse">
            <a:avLst/>
          </a:prstGeom>
          <a:solidFill>
            <a:srgbClr val="ffffff"/>
          </a:solidFill>
          <a:ln w="19050">
            <a:solidFill>
              <a:srgbClr val="d7e1e6"/>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43" name="Dikdörtgen 18"/>
          <p:cNvSpPr/>
          <p:nvPr/>
        </p:nvSpPr>
        <p:spPr>
          <a:xfrm>
            <a:off x="723960" y="3600360"/>
            <a:ext cx="361440" cy="3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200" spc="-1" strike="noStrike">
                <a:solidFill>
                  <a:srgbClr val="009b8e"/>
                </a:solidFill>
                <a:latin typeface="Lato"/>
                <a:ea typeface="Lato"/>
              </a:rPr>
              <a:t>C</a:t>
            </a:r>
            <a:endParaRPr b="0" lang="en-US" sz="1200" spc="-1" strike="noStrike">
              <a:solidFill>
                <a:srgbClr val="000000"/>
              </a:solidFill>
              <a:latin typeface="Arial"/>
            </a:endParaRPr>
          </a:p>
        </p:txBody>
      </p:sp>
      <p:sp>
        <p:nvSpPr>
          <p:cNvPr id="244" name="Dikdörtgen 19"/>
          <p:cNvSpPr/>
          <p:nvPr/>
        </p:nvSpPr>
        <p:spPr>
          <a:xfrm>
            <a:off x="1333440" y="3562200"/>
            <a:ext cx="285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1650" spc="-1" strike="noStrike">
                <a:solidFill>
                  <a:srgbClr val="132638"/>
                </a:solidFill>
                <a:latin typeface="Lato"/>
                <a:ea typeface="Lato"/>
              </a:rPr>
              <a:t>Message</a:t>
            </a:r>
            <a:endParaRPr b="0" lang="en-US" sz="1650" spc="-1" strike="noStrike">
              <a:solidFill>
                <a:srgbClr val="000000"/>
              </a:solidFill>
              <a:latin typeface="Arial"/>
            </a:endParaRPr>
          </a:p>
        </p:txBody>
      </p:sp>
      <p:sp>
        <p:nvSpPr>
          <p:cNvPr id="245" name="Dikdörtgen 20"/>
          <p:cNvSpPr/>
          <p:nvPr/>
        </p:nvSpPr>
        <p:spPr>
          <a:xfrm>
            <a:off x="4476600" y="3562200"/>
            <a:ext cx="67053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1350" spc="-1" strike="noStrike">
                <a:solidFill>
                  <a:srgbClr val="314659"/>
                </a:solidFill>
                <a:latin typeface="Lato"/>
                <a:ea typeface="Lato"/>
              </a:rPr>
              <a:t>String, Twist ve TwistStamped ilişkisini açıkla.</a:t>
            </a:r>
            <a:endParaRPr b="0" lang="en-US" sz="1350" spc="-1" strike="noStrike">
              <a:solidFill>
                <a:srgbClr val="000000"/>
              </a:solidFill>
              <a:latin typeface="Arial"/>
            </a:endParaRPr>
          </a:p>
        </p:txBody>
      </p:sp>
      <p:sp>
        <p:nvSpPr>
          <p:cNvPr id="246" name="Düz Bağlayıcı 21"/>
          <p:cNvSpPr/>
          <p:nvPr/>
        </p:nvSpPr>
        <p:spPr>
          <a:xfrm>
            <a:off x="1333440" y="4181400"/>
            <a:ext cx="9848880" cy="360"/>
          </a:xfrm>
          <a:prstGeom prst="line">
            <a:avLst/>
          </a:prstGeom>
          <a:ln w="9525">
            <a:solidFill>
              <a:srgbClr val="d7e1e6"/>
            </a:solidFill>
            <a:round/>
          </a:ln>
        </p:spPr>
        <p:style>
          <a:lnRef idx="0"/>
          <a:fillRef idx="0"/>
          <a:effectRef idx="0"/>
          <a:fontRef idx="minor"/>
        </p:style>
        <p:txBody>
          <a:bodyPr lIns="90000" rIns="90000" tIns="-44640" bIns="-44640" anchor="t">
            <a:noAutofit/>
          </a:bodyPr>
          <a:p>
            <a:endParaRPr b="0" lang="en-US" sz="1800" spc="-1" strike="noStrike">
              <a:solidFill>
                <a:schemeClr val="dk1"/>
              </a:solidFill>
              <a:latin typeface="Calibri"/>
              <a:ea typeface="Calibri"/>
            </a:endParaRPr>
          </a:p>
        </p:txBody>
      </p:sp>
      <p:sp>
        <p:nvSpPr>
          <p:cNvPr id="247" name="Oval 22"/>
          <p:cNvSpPr/>
          <p:nvPr/>
        </p:nvSpPr>
        <p:spPr>
          <a:xfrm>
            <a:off x="723960" y="4381560"/>
            <a:ext cx="361440" cy="361440"/>
          </a:xfrm>
          <a:prstGeom prst="ellipse">
            <a:avLst/>
          </a:prstGeom>
          <a:solidFill>
            <a:srgbClr val="009b8e"/>
          </a:solidFill>
          <a:ln w="19050">
            <a:solidFill>
              <a:srgbClr val="009b8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a typeface="Calibri"/>
            </a:endParaRPr>
          </a:p>
        </p:txBody>
      </p:sp>
      <p:sp>
        <p:nvSpPr>
          <p:cNvPr id="248" name="Dikdörtgen 23"/>
          <p:cNvSpPr/>
          <p:nvPr/>
        </p:nvSpPr>
        <p:spPr>
          <a:xfrm>
            <a:off x="723960" y="4381560"/>
            <a:ext cx="361440" cy="3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en-US" sz="1200" spc="-1" strike="noStrike">
                <a:solidFill>
                  <a:srgbClr val="ffffff"/>
                </a:solidFill>
                <a:latin typeface="Lato"/>
                <a:ea typeface="Lato"/>
              </a:rPr>
              <a:t>D</a:t>
            </a:r>
            <a:endParaRPr b="0" lang="en-US" sz="1200" spc="-1" strike="noStrike">
              <a:solidFill>
                <a:srgbClr val="000000"/>
              </a:solidFill>
              <a:latin typeface="Arial"/>
            </a:endParaRPr>
          </a:p>
        </p:txBody>
      </p:sp>
      <p:sp>
        <p:nvSpPr>
          <p:cNvPr id="249" name="Dikdörtgen 24"/>
          <p:cNvSpPr/>
          <p:nvPr/>
        </p:nvSpPr>
        <p:spPr>
          <a:xfrm>
            <a:off x="1333440" y="4343400"/>
            <a:ext cx="285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1650" spc="-1" strike="noStrike">
                <a:solidFill>
                  <a:srgbClr val="132638"/>
                </a:solidFill>
                <a:latin typeface="Lato"/>
                <a:ea typeface="Lato"/>
              </a:rPr>
              <a:t>Kanıt</a:t>
            </a:r>
            <a:endParaRPr b="0" lang="en-US" sz="1650" spc="-1" strike="noStrike">
              <a:solidFill>
                <a:srgbClr val="000000"/>
              </a:solidFill>
              <a:latin typeface="Arial"/>
            </a:endParaRPr>
          </a:p>
        </p:txBody>
      </p:sp>
      <p:sp>
        <p:nvSpPr>
          <p:cNvPr id="250" name="Dikdörtgen 25"/>
          <p:cNvSpPr/>
          <p:nvPr/>
        </p:nvSpPr>
        <p:spPr>
          <a:xfrm>
            <a:off x="4476600" y="4343400"/>
            <a:ext cx="67053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n-US" sz="1350" spc="-1" strike="noStrike">
                <a:solidFill>
                  <a:srgbClr val="314659"/>
                </a:solidFill>
                <a:latin typeface="Lato"/>
                <a:ea typeface="Lato"/>
              </a:rPr>
              <a:t>Burger hareketini ve /cmd_vel mesajını eşleştir.</a:t>
            </a:r>
            <a:endParaRPr b="0" lang="en-US" sz="1350" spc="-1" strike="noStrike">
              <a:solidFill>
                <a:srgbClr val="000000"/>
              </a:solidFill>
              <a:latin typeface="Arial"/>
            </a:endParaRPr>
          </a:p>
        </p:txBody>
      </p:sp>
      <p:sp>
        <p:nvSpPr>
          <p:cNvPr id="251" name="Dikdörtgen: Köşeleri Yuvarlatılmış 26"/>
          <p:cNvSpPr/>
          <p:nvPr/>
        </p:nvSpPr>
        <p:spPr>
          <a:xfrm>
            <a:off x="685800" y="5391000"/>
            <a:ext cx="10667520" cy="685440"/>
          </a:xfrm>
          <a:prstGeom prst="roundRect">
            <a:avLst>
              <a:gd name="adj" fmla="val 19444"/>
            </a:avLst>
          </a:prstGeom>
          <a:solidFill>
            <a:srgbClr val="009b8e"/>
          </a:solidFill>
          <a:ln w="0">
            <a:noFill/>
          </a:ln>
        </p:spPr>
        <p:style>
          <a:lnRef idx="0"/>
          <a:fillRef idx="0"/>
          <a:effectRef idx="0"/>
          <a:fontRef idx="minor"/>
        </p:style>
        <p:txBody>
          <a:bodyPr lIns="76320" rIns="76320" tIns="57240" bIns="57240" anchor="ctr">
            <a:noAutofit/>
          </a:bodyPr>
          <a:p>
            <a:pPr algn="ctr" defTabSz="914400">
              <a:lnSpc>
                <a:spcPct val="100000"/>
              </a:lnSpc>
            </a:pPr>
            <a:r>
              <a:rPr b="1" lang="en-US" sz="1500" spc="-1" strike="noStrike">
                <a:solidFill>
                  <a:srgbClr val="ffffff"/>
                </a:solidFill>
                <a:latin typeface="Lato"/>
                <a:ea typeface="Lato"/>
              </a:rPr>
              <a:t>2. haftada klavye yerine LiDAR verisine göre hız kararı vereceğiz.</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pitchFamily="0" charset="1"/>
        <a:ea typeface="Calibri Light" pitchFamily="0" charset="1"/>
        <a:cs typeface="Calibri Light" pitchFamily="0" charset="1"/>
      </a:majorFont>
      <a:minorFont>
        <a:latin typeface="Calibri" pitchFamily="0" charset="1"/>
        <a:ea typeface="Calibri" pitchFamily="0" charset="1"/>
        <a:cs typeface="Calibri"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LibreOffice/24.2.7.2$Linux_X86_64 LibreOffice_project/420$Build-2</Application>
  <AppVersion>15.0000</AppVersion>
  <Words>2881</Words>
  <Paragraphs>306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2026-10-04T21:16:00Z</dcterms:created>
  <dc:creator>Walnut Exporter</dc:creator>
  <dc:description/>
  <dc:language>en-US</dc:language>
  <cp:lastModifiedBy/>
  <dcterms:modified xsi:type="dcterms:W3CDTF">2026-10-06T18:42:13Z</dcterms:modified>
  <cp:revision>2</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Geniş ekran</vt:lpwstr>
  </property>
  <property fmtid="{D5CDD505-2E9C-101B-9397-08002B2CF9AE}" pid="4" name="Slides">
    <vt:i4>16</vt:i4>
  </property>
</Properties>
</file>